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4" r:id="rId3"/>
    <p:sldId id="269" r:id="rId4"/>
    <p:sldId id="355" r:id="rId5"/>
    <p:sldId id="356" r:id="rId6"/>
    <p:sldId id="357" r:id="rId7"/>
    <p:sldId id="358" r:id="rId8"/>
    <p:sldId id="359" r:id="rId9"/>
    <p:sldId id="360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8EC"/>
    <a:srgbClr val="0B4F2D"/>
    <a:srgbClr val="004723"/>
    <a:srgbClr val="A51C30"/>
    <a:srgbClr val="029E4C"/>
    <a:srgbClr val="E2F0D9"/>
    <a:srgbClr val="015529"/>
    <a:srgbClr val="548235"/>
    <a:srgbClr val="014723"/>
    <a:srgbClr val="D8E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8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88542-8802-4B87-9091-59CD01CCE8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02F37-9261-4F8B-9652-2016387BD2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9C00-3007-445F-903C-C55D6E6A64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4.png"/><Relationship Id="rId7" Type="http://schemas.openxmlformats.org/officeDocument/2006/relationships/image" Target="../media/image3.jpeg"/><Relationship Id="rId6" Type="http://schemas.openxmlformats.org/officeDocument/2006/relationships/image" Target="../media/image2.png"/><Relationship Id="rId5" Type="http://schemas.openxmlformats.org/officeDocument/2006/relationships/tags" Target="../tags/tag5.xml"/><Relationship Id="rId4" Type="http://schemas.openxmlformats.org/officeDocument/2006/relationships/image" Target="../media/image1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tags" Target="../tags/tag9.xml"/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tags" Target="../tags/tag13.xml"/><Relationship Id="rId4" Type="http://schemas.openxmlformats.org/officeDocument/2006/relationships/image" Target="../media/image1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3.jpeg"/><Relationship Id="rId7" Type="http://schemas.openxmlformats.org/officeDocument/2006/relationships/image" Target="../media/image12.jpeg"/><Relationship Id="rId6" Type="http://schemas.openxmlformats.org/officeDocument/2006/relationships/image" Target="../media/image11.jpeg"/><Relationship Id="rId5" Type="http://schemas.openxmlformats.org/officeDocument/2006/relationships/tags" Target="../tags/tag17.xml"/><Relationship Id="rId4" Type="http://schemas.openxmlformats.org/officeDocument/2006/relationships/image" Target="../media/image1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5.jpeg"/><Relationship Id="rId6" Type="http://schemas.openxmlformats.org/officeDocument/2006/relationships/image" Target="../media/image14.jpe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tags" Target="../tags/tag25.xml"/><Relationship Id="rId4" Type="http://schemas.openxmlformats.org/officeDocument/2006/relationships/image" Target="../media/image1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(倒卖必究)-2"/>
          <p:cNvSpPr txBox="1"/>
          <p:nvPr/>
        </p:nvSpPr>
        <p:spPr>
          <a:xfrm>
            <a:off x="2705100" y="-441960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HSVmode:HSV</a:t>
            </a:r>
            <a:endParaRPr lang="zh-CN" altLang="en-US" dirty="0"/>
          </a:p>
        </p:txBody>
      </p:sp>
      <p:pic>
        <p:nvPicPr>
          <p:cNvPr id="23" name="Picture 22" descr="香港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385" y="821055"/>
            <a:ext cx="3240405" cy="628140"/>
          </a:xfrm>
          <a:prstGeom prst="rect">
            <a:avLst/>
          </a:prstGeom>
        </p:spPr>
      </p:pic>
      <p:sp>
        <p:nvSpPr>
          <p:cNvPr id="13" name="淘宝-想搞设计(倒卖必究)-13"/>
          <p:cNvSpPr txBox="1"/>
          <p:nvPr/>
        </p:nvSpPr>
        <p:spPr>
          <a:xfrm>
            <a:off x="1014385" y="2383500"/>
            <a:ext cx="9913040" cy="152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3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3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rogress Report</a:t>
            </a:r>
            <a:endParaRPr kumimoji="1" lang="en-US" altLang="zh-CN" sz="3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kumimoji="1" lang="en-US" altLang="zh-CN" sz="1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kumimoji="1" lang="en-US" altLang="zh-CN" sz="1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endParaRPr kumimoji="1" lang="en-US" altLang="zh-CN" sz="1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" name="淘宝-想搞设计(倒卖必究)-8"/>
          <p:cNvCxnSpPr/>
          <p:nvPr/>
        </p:nvCxnSpPr>
        <p:spPr>
          <a:xfrm>
            <a:off x="1958975" y="4267835"/>
            <a:ext cx="8023860" cy="0"/>
          </a:xfrm>
          <a:prstGeom prst="line">
            <a:avLst/>
          </a:prstGeom>
          <a:ln w="3175" cmpd="sng">
            <a:gradFill>
              <a:gsLst>
                <a:gs pos="0">
                  <a:schemeClr val="bg1"/>
                </a:gs>
                <a:gs pos="53000">
                  <a:schemeClr val="tx1">
                    <a:lumMod val="0"/>
                    <a:alpha val="23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4812209" y="4847198"/>
            <a:ext cx="2316660" cy="893127"/>
            <a:chOff x="2365287" y="4855528"/>
            <a:chExt cx="2316660" cy="893127"/>
          </a:xfrm>
        </p:grpSpPr>
        <p:sp>
          <p:nvSpPr>
            <p:cNvPr id="16" name="淘宝-想搞设计(倒卖必究)-16"/>
            <p:cNvSpPr txBox="1"/>
            <p:nvPr/>
          </p:nvSpPr>
          <p:spPr>
            <a:xfrm>
              <a:off x="2365287" y="4855528"/>
              <a:ext cx="23166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solidFill/>
                  <a:cs typeface="+mn-ea"/>
                  <a:sym typeface="+mn-lt"/>
                </a:rPr>
                <a:t>Name: Liu </a:t>
              </a:r>
              <a:r>
                <a:rPr lang="en-US" altLang="zh-CN" sz="2000" dirty="0" err="1">
                  <a:solidFill/>
                  <a:cs typeface="+mn-ea"/>
                  <a:sym typeface="+mn-lt"/>
                </a:rPr>
                <a:t>Zhaolin</a:t>
              </a:r>
              <a:endParaRPr lang="en-US" altLang="zh-CN" sz="2000" dirty="0">
                <a:solidFill/>
                <a:cs typeface="+mn-ea"/>
                <a:sym typeface="+mn-lt"/>
              </a:endParaRPr>
            </a:p>
          </p:txBody>
        </p:sp>
        <p:sp>
          <p:nvSpPr>
            <p:cNvPr id="10" name="淘宝-想搞设计(倒卖必究)-10"/>
            <p:cNvSpPr txBox="1"/>
            <p:nvPr/>
          </p:nvSpPr>
          <p:spPr>
            <a:xfrm>
              <a:off x="2459357" y="5349875"/>
              <a:ext cx="212852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solidFill/>
                  <a:cs typeface="+mn-ea"/>
                  <a:sym typeface="+mn-lt"/>
                </a:rPr>
                <a:t>Date: 19/07/2026</a:t>
              </a:r>
              <a:endParaRPr lang="en-US" altLang="zh-CN" sz="2000" dirty="0">
                <a:solidFill/>
                <a:cs typeface="+mn-ea"/>
                <a:sym typeface="+mn-lt"/>
              </a:endParaRPr>
            </a:p>
          </p:txBody>
        </p:sp>
      </p:grpSp>
      <p:sp>
        <p:nvSpPr>
          <p:cNvPr id="18" name="淘宝-想搞设计(倒卖必究)-18"/>
          <p:cNvSpPr/>
          <p:nvPr/>
        </p:nvSpPr>
        <p:spPr>
          <a:xfrm>
            <a:off x="-184150" y="6663690"/>
            <a:ext cx="12636500" cy="270510"/>
          </a:xfrm>
          <a:prstGeom prst="rect">
            <a:avLst/>
          </a:prstGeom>
          <a:solidFill>
            <a:srgbClr val="E08D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A completely new design was adopted to minimize the size of the tactile sensor while maximizing its measurement accuracy.</a:t>
            </a:r>
            <a:endParaRPr lang="en-US" altLang="zh-CN"/>
          </a:p>
        </p:txBody>
      </p:sp>
      <p:pic>
        <p:nvPicPr>
          <p:cNvPr id="5" name="图片 4" descr="三层硅胶示意图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" y="2800985"/>
            <a:ext cx="4884420" cy="3663315"/>
          </a:xfrm>
          <a:prstGeom prst="rect">
            <a:avLst/>
          </a:prstGeom>
        </p:spPr>
      </p:pic>
      <p:pic>
        <p:nvPicPr>
          <p:cNvPr id="7" name="图片 6" descr="大小对比1"/>
          <p:cNvPicPr>
            <a:picLocks noChangeAspect="1"/>
          </p:cNvPicPr>
          <p:nvPr/>
        </p:nvPicPr>
        <p:blipFill>
          <a:blip r:embed="rId7"/>
          <a:srcRect l="30009" r="17855"/>
          <a:stretch>
            <a:fillRect/>
          </a:stretch>
        </p:blipFill>
        <p:spPr>
          <a:xfrm rot="5400000">
            <a:off x="7774305" y="1576705"/>
            <a:ext cx="2195195" cy="3159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rcRect l="11041" r="9295" b="27841"/>
          <a:stretch>
            <a:fillRect/>
          </a:stretch>
        </p:blipFill>
        <p:spPr>
          <a:xfrm>
            <a:off x="7292340" y="4253865"/>
            <a:ext cx="3150235" cy="2141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Hardware Fabrication Process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2" name="图片 1" descr="全新设计的sensor外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0" y="2407285"/>
            <a:ext cx="4895850" cy="3672205"/>
          </a:xfrm>
          <a:prstGeom prst="rect">
            <a:avLst/>
          </a:prstGeom>
        </p:spPr>
      </p:pic>
      <p:pic>
        <p:nvPicPr>
          <p:cNvPr id="3" name="图片 2" descr="ledpcb板"/>
          <p:cNvPicPr>
            <a:picLocks noChangeAspect="1"/>
          </p:cNvPicPr>
          <p:nvPr/>
        </p:nvPicPr>
        <p:blipFill>
          <a:blip r:embed="rId7"/>
          <a:srcRect l="25076" t="4213" r="29118"/>
          <a:stretch>
            <a:fillRect/>
          </a:stretch>
        </p:blipFill>
        <p:spPr>
          <a:xfrm rot="5400000">
            <a:off x="7436485" y="1007110"/>
            <a:ext cx="2308860" cy="3622040"/>
          </a:xfrm>
          <a:prstGeom prst="rect">
            <a:avLst/>
          </a:prstGeom>
        </p:spPr>
      </p:pic>
      <p:pic>
        <p:nvPicPr>
          <p:cNvPr id="6" name="图片 5" descr="全新摄像头ov5640"/>
          <p:cNvPicPr>
            <a:picLocks noChangeAspect="1"/>
          </p:cNvPicPr>
          <p:nvPr/>
        </p:nvPicPr>
        <p:blipFill>
          <a:blip r:embed="rId8"/>
          <a:srcRect l="10764" t="20463" r="15201" b="19500"/>
          <a:stretch>
            <a:fillRect/>
          </a:stretch>
        </p:blipFill>
        <p:spPr>
          <a:xfrm>
            <a:off x="6776720" y="4178300"/>
            <a:ext cx="3625215" cy="2205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Hardware Fabrication Process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 descr="封窗固化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41935" y="2916555"/>
            <a:ext cx="3834765" cy="2875915"/>
          </a:xfrm>
          <a:prstGeom prst="rect">
            <a:avLst/>
          </a:prstGeom>
        </p:spPr>
      </p:pic>
      <p:pic>
        <p:nvPicPr>
          <p:cNvPr id="7" name="图片 6" descr="调硅胶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409315" y="2915920"/>
            <a:ext cx="3833495" cy="2875915"/>
          </a:xfrm>
          <a:prstGeom prst="rect">
            <a:avLst/>
          </a:prstGeom>
        </p:spPr>
      </p:pic>
      <p:pic>
        <p:nvPicPr>
          <p:cNvPr id="8" name="图片 7" descr="真空消泡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4215" y="2710815"/>
            <a:ext cx="4686935" cy="3515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Hardware Fabrication Process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 descr="胶体制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60" y="2355215"/>
            <a:ext cx="3366770" cy="2525395"/>
          </a:xfrm>
          <a:prstGeom prst="rect">
            <a:avLst/>
          </a:prstGeom>
        </p:spPr>
      </p:pic>
      <p:pic>
        <p:nvPicPr>
          <p:cNvPr id="7" name="图片 6" descr="注胶模具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045" y="2354580"/>
            <a:ext cx="3363595" cy="2523490"/>
          </a:xfrm>
          <a:prstGeom prst="rect">
            <a:avLst/>
          </a:prstGeom>
        </p:spPr>
      </p:pic>
      <p:pic>
        <p:nvPicPr>
          <p:cNvPr id="8" name="图片 7" descr="封模防漏胶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555" y="2354580"/>
            <a:ext cx="3352800" cy="2515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Electrical Testing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 descr="集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0530" y="2718435"/>
            <a:ext cx="3870325" cy="2902585"/>
          </a:xfrm>
          <a:prstGeom prst="rect">
            <a:avLst/>
          </a:prstGeom>
        </p:spPr>
      </p:pic>
      <p:pic>
        <p:nvPicPr>
          <p:cNvPr id="7" name="图片 6" descr="光路测试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746500" y="2770505"/>
            <a:ext cx="3810635" cy="2858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821944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1.1 Hardware Setup of the Newly Designed Sensor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1360" y="1709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Six-Axis Force Sensor Setup and Testing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2" name="图片 1" descr="六维力传感器调试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60" y="2203450"/>
            <a:ext cx="5217795" cy="3913505"/>
          </a:xfrm>
          <a:prstGeom prst="rect">
            <a:avLst/>
          </a:prstGeom>
        </p:spPr>
      </p:pic>
      <p:pic>
        <p:nvPicPr>
          <p:cNvPr id="3" name="图片 2" descr="力矩传感器的标定件连接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03450"/>
            <a:ext cx="5217795" cy="3913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(倒卖必究)-13"/>
          <p:cNvSpPr txBox="1"/>
          <p:nvPr/>
        </p:nvSpPr>
        <p:spPr>
          <a:xfrm>
            <a:off x="289862" y="1034110"/>
            <a:ext cx="4504690" cy="42354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/>
            <a:r>
              <a:rPr lang="en-US" altLang="zh-CN" dirty="0">
                <a:solidFill/>
              </a:rPr>
              <a:t>2. Next Week‘s Work Plan</a:t>
            </a:r>
            <a:endParaRPr lang="en-US" altLang="zh-CN" dirty="0">
              <a:solidFill/>
            </a:endParaRPr>
          </a:p>
        </p:txBody>
      </p:sp>
      <p:cxnSp>
        <p:nvCxnSpPr>
          <p:cNvPr id="12" name="淘宝-想搞设计(倒卖必究)-12"/>
          <p:cNvCxnSpPr/>
          <p:nvPr/>
        </p:nvCxnSpPr>
        <p:spPr>
          <a:xfrm>
            <a:off x="425752" y="1508520"/>
            <a:ext cx="3797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(倒卖必究)-17"/>
          <p:cNvSpPr txBox="1"/>
          <p:nvPr/>
        </p:nvSpPr>
        <p:spPr>
          <a:xfrm>
            <a:off x="1053207" y="2001326"/>
            <a:ext cx="1010526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endParaRPr lang="en-US" altLang="zh-CN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0" y="-8890"/>
            <a:ext cx="12192000" cy="810895"/>
            <a:chOff x="0" y="496"/>
            <a:chExt cx="19200" cy="1277"/>
          </a:xfrm>
        </p:grpSpPr>
        <p:grpSp>
          <p:nvGrpSpPr>
            <p:cNvPr id="33" name="组合 32"/>
            <p:cNvGrpSpPr/>
            <p:nvPr>
              <p:custDataLst>
                <p:tags r:id="rId2"/>
              </p:custDataLst>
            </p:nvPr>
          </p:nvGrpSpPr>
          <p:grpSpPr>
            <a:xfrm>
              <a:off x="0" y="496"/>
              <a:ext cx="19200" cy="1247"/>
              <a:chOff x="0" y="473042"/>
              <a:chExt cx="12192000" cy="792000"/>
            </a:xfrm>
          </p:grpSpPr>
          <p:sp>
            <p:nvSpPr>
              <p:cNvPr id="34" name="淘宝-想搞设计(倒卖必究)-34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淘宝-想搞设计(倒卖必究)-36"/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64" name="Picture 63" descr="香港大学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5020" y="686444"/>
                <a:ext cx="1706384" cy="330775"/>
              </a:xfrm>
              <a:prstGeom prst="rect">
                <a:avLst/>
              </a:prstGeom>
            </p:spPr>
          </p:pic>
        </p:grpSp>
        <p:sp>
          <p:nvSpPr>
            <p:cNvPr id="40" name="淘宝-想搞设计(倒卖必究)-40"/>
            <p:cNvSpPr/>
            <p:nvPr>
              <p:custDataLst>
                <p:tags r:id="rId5"/>
              </p:custDataLst>
            </p:nvPr>
          </p:nvSpPr>
          <p:spPr>
            <a:xfrm>
              <a:off x="0" y="1713"/>
              <a:ext cx="19200" cy="6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E58E26">
                    <a:alpha val="0"/>
                  </a:srgbClr>
                </a:gs>
                <a:gs pos="0">
                  <a:srgbClr val="E58E26">
                    <a:alpha val="0"/>
                  </a:srgbClr>
                </a:gs>
                <a:gs pos="60000">
                  <a:srgbClr val="E58E26"/>
                </a:gs>
                <a:gs pos="40000">
                  <a:srgbClr val="E58E26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3410" y="1794510"/>
            <a:ext cx="92036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For the hardware</a:t>
            </a:r>
            <a:r>
              <a:rPr lang="zh-CN" altLang="en-US" b="1"/>
              <a:t>：</a:t>
            </a:r>
            <a:endParaRPr lang="zh-CN" altLang="en-US" b="1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Build a synchronized acquisition system for 9DTact images and FT300 six-axis force labels.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Collect a larger and more diverse dataset, including normal pressing, shear, eccentric loading, and torsion.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Repeat experiments under different loads, directions, and contact positions to improve data reliability.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Perform timestamp alignment, outlier removal, and data normalization.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For the software</a:t>
            </a:r>
            <a:r>
              <a:rPr lang="zh-CN" altLang="en-US" b="1"/>
              <a:t>：</a:t>
            </a:r>
            <a:endParaRPr lang="zh-CN" altLang="en-US" b="1"/>
          </a:p>
          <a:p>
            <a:pPr indent="0">
              <a:buFont typeface="Arial" panose="020B0604020202020204" pitchFamily="34" charset="0"/>
              <a:buNone/>
            </a:pP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Perform timestamp alignment, outlier removal, and data normalization.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Train a model to estimate 6Dforces from 9Dtact images.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Improve estimation accuracy through model tuning and additional data collection.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Evaluate the model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LIDE.ICON" val="#168399;#152018;"/>
</p:tagLst>
</file>

<file path=ppt/tags/tag2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3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4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5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6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7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8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9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0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11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2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3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4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15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6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7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18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19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0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1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2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23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4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5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6.xml><?xml version="1.0" encoding="utf-8"?>
<p:tagLst xmlns:p="http://schemas.openxmlformats.org/presentationml/2006/main">
  <p:tag name="KSO_WM_DIAGRAM_VIRTUALLY_FRAME" val="{&quot;height&quot;:348.8,&quot;left&quot;:0,&quot;top&quot;:24.8,&quot;width&quot;:960}"/>
</p:tagLst>
</file>

<file path=ppt/tags/tag27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8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29.xml><?xml version="1.0" encoding="utf-8"?>
<p:tagLst xmlns:p="http://schemas.openxmlformats.org/presentationml/2006/main">
  <p:tag name="KSO_WM_DIAGRAM_VIRTUALLY_FRAME" val="{&quot;height&quot;:480.20291338582683,&quot;left&quot;:-72.37866141732283,&quot;top&quot;:-9.95,&quot;width&quot;:1032.3786614173227}"/>
</p:tagLst>
</file>

<file path=ppt/tags/tag30.xml><?xml version="1.0" encoding="utf-8"?>
<p:tagLst xmlns:p="http://schemas.openxmlformats.org/presentationml/2006/main">
  <p:tag name="COMMONDATA" val="eyJoZGlkIjoiYjNkNDYxMmIwNmM5NTY2OTdkODYxNGM2OGY2YmI2OGYifQ=="/>
</p:tagLst>
</file>

<file path=ppt/theme/theme1.xml><?xml version="1.0" encoding="utf-8"?>
<a:theme xmlns:a="http://schemas.openxmlformats.org/drawingml/2006/main" name="淘宝-想搞设计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3rrne3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WPS 演示</Application>
  <PresentationFormat>宽屏</PresentationFormat>
  <Paragraphs>70</Paragraphs>
  <Slides>8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Calibri</vt:lpstr>
      <vt:lpstr>Wingdings</vt:lpstr>
      <vt:lpstr>Arial Unicode MS</vt:lpstr>
      <vt:lpstr>等线</vt:lpstr>
      <vt:lpstr>淘宝-想搞设计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淘宝店铺-想搞设计</dc:title>
  <dc:creator>淘宝店铺-想搞设计</dc:creator>
  <cp:keywords>淘宝店铺-想搞设计</cp:keywords>
  <dc:description>淘宝店铺-想搞设计</dc:description>
  <dc:subject>淘宝店铺-想搞设计</dc:subject>
  <cp:category>淘宝店铺-想搞设计</cp:category>
  <cp:lastModifiedBy>THE DUST LADEN MEMORIES</cp:lastModifiedBy>
  <cp:revision>90</cp:revision>
  <dcterms:created xsi:type="dcterms:W3CDTF">2019-07-31T06:15:00Z</dcterms:created>
  <dcterms:modified xsi:type="dcterms:W3CDTF">2026-07-20T08:56:53Z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965E456F63B848FEB58FA7A6C89DEFD2_13</vt:lpwstr>
  </property>
  <property fmtid="{D5CDD505-2E9C-101B-9397-08002B2CF9AE}" pid="3" name="KSOProductBuildVer">
    <vt:lpwstr>2052-12.1.0.26895</vt:lpwstr>
  </property>
</Properties>
</file>