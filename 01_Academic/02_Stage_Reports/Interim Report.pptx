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94" r:id="rId3"/>
    <p:sldId id="297" r:id="rId4"/>
    <p:sldId id="269" r:id="rId5"/>
    <p:sldId id="333" r:id="rId6"/>
    <p:sldId id="347" r:id="rId7"/>
    <p:sldId id="348" r:id="rId8"/>
    <p:sldId id="350" r:id="rId9"/>
    <p:sldId id="310" r:id="rId10"/>
    <p:sldId id="335" r:id="rId11"/>
    <p:sldId id="336" r:id="rId12"/>
    <p:sldId id="352"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8EC"/>
    <a:srgbClr val="0B4F2D"/>
    <a:srgbClr val="004723"/>
    <a:srgbClr val="A51C30"/>
    <a:srgbClr val="029E4C"/>
    <a:srgbClr val="E2F0D9"/>
    <a:srgbClr val="015529"/>
    <a:srgbClr val="548235"/>
    <a:srgbClr val="014723"/>
    <a:srgbClr val="D8E6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4660"/>
  </p:normalViewPr>
  <p:slideViewPr>
    <p:cSldViewPr snapToGrid="0">
      <p:cViewPr varScale="1">
        <p:scale>
          <a:sx n="78" d="100"/>
          <a:sy n="78" d="100"/>
        </p:scale>
        <p:origin x="68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32.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88542-8802-4B87-9091-59CD01CCE8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02F37-9261-4F8B-9652-2016387BD2F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4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889C00-3007-445F-903C-C55D6E6A648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3.jpeg"/><Relationship Id="rId6" Type="http://schemas.openxmlformats.org/officeDocument/2006/relationships/image" Target="../media/image2.jpeg"/><Relationship Id="rId5" Type="http://schemas.openxmlformats.org/officeDocument/2006/relationships/tags" Target="../tags/tag5.xml"/><Relationship Id="rId4" Type="http://schemas.openxmlformats.org/officeDocument/2006/relationships/image" Target="../media/image1.pn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9.xml"/><Relationship Id="rId4" Type="http://schemas.openxmlformats.org/officeDocument/2006/relationships/image" Target="../media/image1.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13.xml"/><Relationship Id="rId4" Type="http://schemas.openxmlformats.org/officeDocument/2006/relationships/image" Target="../media/image1.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tags" Target="../tags/tag17.xml"/><Relationship Id="rId4" Type="http://schemas.openxmlformats.org/officeDocument/2006/relationships/image" Target="../media/image1.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tags" Target="../tags/tag21.xml"/><Relationship Id="rId4" Type="http://schemas.openxmlformats.org/officeDocument/2006/relationships/image" Target="../media/image1.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24.xml"/><Relationship Id="rId3" Type="http://schemas.openxmlformats.org/officeDocument/2006/relationships/image" Target="../media/image1.png"/><Relationship Id="rId2" Type="http://schemas.openxmlformats.org/officeDocument/2006/relationships/tags" Target="../tags/tag23.xml"/><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image" Target="../media/image1.png"/><Relationship Id="rId2" Type="http://schemas.openxmlformats.org/officeDocument/2006/relationships/tags" Target="../tags/tag26.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31.xml"/><Relationship Id="rId3" Type="http://schemas.openxmlformats.org/officeDocument/2006/relationships/image" Target="../media/image1.png"/><Relationship Id="rId2" Type="http://schemas.openxmlformats.org/officeDocument/2006/relationships/tags" Target="../tags/tag30.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倒卖必究)-2"/>
          <p:cNvSpPr txBox="1"/>
          <p:nvPr/>
        </p:nvSpPr>
        <p:spPr>
          <a:xfrm>
            <a:off x="2705100" y="-4419600"/>
            <a:ext cx="1774845" cy="369332"/>
          </a:xfrm>
          <a:prstGeom prst="rect">
            <a:avLst/>
          </a:prstGeom>
          <a:noFill/>
        </p:spPr>
        <p:txBody>
          <a:bodyPr wrap="none" rtlCol="0">
            <a:spAutoFit/>
          </a:bodyPr>
          <a:lstStyle/>
          <a:p>
            <a:r>
              <a:rPr lang="en-US" altLang="zh-CN" dirty="0" err="1">
                <a:solidFill/>
              </a:rPr>
              <a:t>HSVmode:HSV</a:t>
            </a:r>
            <a:endParaRPr lang="zh-CN" altLang="en-US" dirty="0"/>
          </a:p>
        </p:txBody>
      </p:sp>
      <p:pic>
        <p:nvPicPr>
          <p:cNvPr id="23" name="Picture 22" descr="香港大学.png"/>
          <p:cNvPicPr>
            <a:picLocks noChangeAspect="1"/>
          </p:cNvPicPr>
          <p:nvPr/>
        </p:nvPicPr>
        <p:blipFill>
          <a:blip r:embed="rId1"/>
          <a:stretch>
            <a:fillRect/>
          </a:stretch>
        </p:blipFill>
        <p:spPr>
          <a:xfrm>
            <a:off x="4350385" y="821055"/>
            <a:ext cx="3240405" cy="628140"/>
          </a:xfrm>
          <a:prstGeom prst="rect">
            <a:avLst/>
          </a:prstGeom>
        </p:spPr>
      </p:pic>
      <p:sp>
        <p:nvSpPr>
          <p:cNvPr id="13" name="淘宝-想搞设计(倒卖必究)-13"/>
          <p:cNvSpPr txBox="1"/>
          <p:nvPr/>
        </p:nvSpPr>
        <p:spPr>
          <a:xfrm>
            <a:off x="1014385" y="2383500"/>
            <a:ext cx="9913040" cy="1524635"/>
          </a:xfrm>
          <a:prstGeom prst="rect">
            <a:avLst/>
          </a:prstGeom>
          <a:noFill/>
        </p:spPr>
        <p:txBody>
          <a:bodyPr wrap="square" rtlCol="0">
            <a:spAutoFit/>
          </a:bodyPr>
          <a:lstStyle/>
          <a:p>
            <a:pPr algn="ctr">
              <a:lnSpc>
                <a:spcPct val="120000"/>
              </a:lnSpc>
            </a:pPr>
            <a:r>
              <a:rPr kumimoji="1" lang="en-US" altLang="zh-CN" sz="3800" b="1" dirty="0">
                <a:latin typeface="Arial" panose="020B0604020202020204" pitchFamily="34" charset="0"/>
                <a:ea typeface="微软雅黑" panose="020B0503020204020204" pitchFamily="34" charset="-122"/>
                <a:cs typeface="Arial" panose="020B0604020202020204" pitchFamily="34" charset="0"/>
              </a:rPr>
              <a:t>P</a:t>
            </a:r>
            <a:r>
              <a:rPr kumimoji="1" lang="en-US" altLang="zh-CN" sz="3800" b="1" dirty="0">
                <a:latin typeface="Arial" panose="020B0604020202020204" pitchFamily="34" charset="0"/>
                <a:ea typeface="微软雅黑" panose="020B0503020204020204" pitchFamily="34" charset="-122"/>
                <a:cs typeface="Arial" panose="020B0604020202020204" pitchFamily="34" charset="0"/>
              </a:rPr>
              <a:t>rogress Report</a:t>
            </a:r>
            <a:endParaRPr kumimoji="1" lang="en-US" altLang="zh-CN" sz="3800" b="1" dirty="0">
              <a:latin typeface="Arial" panose="020B0604020202020204" pitchFamily="34" charset="0"/>
              <a:ea typeface="微软雅黑" panose="020B0503020204020204" pitchFamily="34" charset="-122"/>
              <a:cs typeface="Arial" panose="020B0604020202020204" pitchFamily="34" charset="0"/>
            </a:endParaRPr>
          </a:p>
          <a:p>
            <a:pPr algn="ctr">
              <a:lnSpc>
                <a:spcPct val="120000"/>
              </a:lnSpc>
            </a:pPr>
            <a:endParaRPr kumimoji="1" lang="en-US" altLang="zh-CN" sz="1400" b="1" dirty="0">
              <a:latin typeface="Arial" panose="020B0604020202020204" pitchFamily="34" charset="0"/>
              <a:ea typeface="微软雅黑" panose="020B0503020204020204" pitchFamily="34" charset="-122"/>
              <a:cs typeface="Arial" panose="020B0604020202020204" pitchFamily="34" charset="0"/>
            </a:endParaRPr>
          </a:p>
          <a:p>
            <a:pPr algn="ctr">
              <a:lnSpc>
                <a:spcPct val="120000"/>
              </a:lnSpc>
            </a:pPr>
            <a:r>
              <a:rPr kumimoji="1" lang="en-US" altLang="zh-CN" sz="1400" b="1" dirty="0">
                <a:latin typeface="Arial" panose="020B0604020202020204" pitchFamily="34" charset="0"/>
                <a:ea typeface="微软雅黑" panose="020B0503020204020204" pitchFamily="34" charset="-122"/>
                <a:cs typeface="Arial" panose="020B0604020202020204" pitchFamily="34" charset="0"/>
              </a:rPr>
              <a:t>2026 W15 - W16</a:t>
            </a:r>
            <a:endParaRPr kumimoji="1" lang="en-US" altLang="zh-CN" sz="1400" b="1" dirty="0">
              <a:latin typeface="Arial" panose="020B0604020202020204" pitchFamily="34" charset="0"/>
              <a:ea typeface="微软雅黑" panose="020B0503020204020204" pitchFamily="34" charset="-122"/>
              <a:cs typeface="Arial" panose="020B0604020202020204" pitchFamily="34" charset="0"/>
            </a:endParaRPr>
          </a:p>
          <a:p>
            <a:pPr algn="ctr"/>
            <a:endParaRPr kumimoji="1" lang="en-US" altLang="zh-CN" sz="1400" b="1" dirty="0">
              <a:latin typeface="Arial" panose="020B0604020202020204" pitchFamily="34" charset="0"/>
              <a:ea typeface="微软雅黑" panose="020B0503020204020204" pitchFamily="34" charset="-122"/>
              <a:cs typeface="Arial" panose="020B0604020202020204" pitchFamily="34" charset="0"/>
            </a:endParaRPr>
          </a:p>
        </p:txBody>
      </p:sp>
      <p:cxnSp>
        <p:nvCxnSpPr>
          <p:cNvPr id="8" name="淘宝-想搞设计(倒卖必究)-8"/>
          <p:cNvCxnSpPr/>
          <p:nvPr/>
        </p:nvCxnSpPr>
        <p:spPr>
          <a:xfrm>
            <a:off x="1958975" y="4267835"/>
            <a:ext cx="8023860" cy="0"/>
          </a:xfrm>
          <a:prstGeom prst="line">
            <a:avLst/>
          </a:prstGeom>
          <a:ln w="3175" cmpd="sng">
            <a:gradFill>
              <a:gsLst>
                <a:gs pos="0">
                  <a:schemeClr val="bg1"/>
                </a:gs>
                <a:gs pos="53000">
                  <a:schemeClr val="tx1">
                    <a:lumMod val="0"/>
                    <a:alpha val="23000"/>
                  </a:schemeClr>
                </a:gs>
                <a:gs pos="100000">
                  <a:schemeClr val="bg1"/>
                </a:gs>
              </a:gsLst>
              <a:lin ang="0" scaled="1"/>
              <a:tileRect/>
            </a:gradFill>
            <a:prstDash val="solid"/>
          </a:ln>
        </p:spPr>
        <p:style>
          <a:lnRef idx="2">
            <a:schemeClr val="accent1"/>
          </a:lnRef>
          <a:fillRef idx="0">
            <a:srgbClr val="FFFFFF"/>
          </a:fillRef>
          <a:effectRef idx="0">
            <a:srgbClr val="FFFFFF"/>
          </a:effectRef>
          <a:fontRef idx="minor">
            <a:schemeClr val="tx1"/>
          </a:fontRef>
        </p:style>
      </p:cxnSp>
      <p:grpSp>
        <p:nvGrpSpPr>
          <p:cNvPr id="3" name="组合 2"/>
          <p:cNvGrpSpPr/>
          <p:nvPr/>
        </p:nvGrpSpPr>
        <p:grpSpPr>
          <a:xfrm>
            <a:off x="4812209" y="4847198"/>
            <a:ext cx="2316660" cy="893127"/>
            <a:chOff x="2365287" y="4855528"/>
            <a:chExt cx="2316660" cy="893127"/>
          </a:xfrm>
        </p:grpSpPr>
        <p:sp>
          <p:nvSpPr>
            <p:cNvPr id="16" name="淘宝-想搞设计(倒卖必究)-16"/>
            <p:cNvSpPr txBox="1"/>
            <p:nvPr/>
          </p:nvSpPr>
          <p:spPr>
            <a:xfrm>
              <a:off x="2365287" y="4855528"/>
              <a:ext cx="2316660" cy="400110"/>
            </a:xfrm>
            <a:prstGeom prst="rect">
              <a:avLst/>
            </a:prstGeom>
            <a:noFill/>
          </p:spPr>
          <p:txBody>
            <a:bodyPr wrap="none" rtlCol="0">
              <a:spAutoFit/>
            </a:bodyPr>
            <a:lstStyle/>
            <a:p>
              <a:pPr algn="ctr"/>
              <a:r>
                <a:rPr lang="en-US" altLang="zh-CN" sz="2000" dirty="0">
                  <a:solidFill/>
                  <a:cs typeface="+mn-ea"/>
                  <a:sym typeface="+mn-lt"/>
                </a:rPr>
                <a:t>Name: Liu </a:t>
              </a:r>
              <a:r>
                <a:rPr lang="en-US" altLang="zh-CN" sz="2000" dirty="0" err="1">
                  <a:solidFill/>
                  <a:cs typeface="+mn-ea"/>
                  <a:sym typeface="+mn-lt"/>
                </a:rPr>
                <a:t>Zhaolin</a:t>
              </a:r>
              <a:endParaRPr lang="en-US" altLang="zh-CN" sz="2000" dirty="0">
                <a:solidFill/>
                <a:cs typeface="+mn-ea"/>
                <a:sym typeface="+mn-lt"/>
              </a:endParaRPr>
            </a:p>
          </p:txBody>
        </p:sp>
        <p:sp>
          <p:nvSpPr>
            <p:cNvPr id="10" name="淘宝-想搞设计(倒卖必究)-10"/>
            <p:cNvSpPr txBox="1"/>
            <p:nvPr/>
          </p:nvSpPr>
          <p:spPr>
            <a:xfrm>
              <a:off x="2459357" y="5349875"/>
              <a:ext cx="2128520" cy="398780"/>
            </a:xfrm>
            <a:prstGeom prst="rect">
              <a:avLst/>
            </a:prstGeom>
            <a:noFill/>
          </p:spPr>
          <p:txBody>
            <a:bodyPr wrap="none" rtlCol="0">
              <a:spAutoFit/>
            </a:bodyPr>
            <a:lstStyle/>
            <a:p>
              <a:pPr algn="ctr"/>
              <a:r>
                <a:rPr lang="en-US" altLang="zh-CN" sz="2000" dirty="0">
                  <a:solidFill/>
                  <a:cs typeface="+mn-ea"/>
                  <a:sym typeface="+mn-lt"/>
                </a:rPr>
                <a:t>Date: 19/04/2026</a:t>
              </a:r>
              <a:endParaRPr lang="en-US" altLang="zh-CN" sz="2000" dirty="0">
                <a:solidFill/>
                <a:cs typeface="+mn-ea"/>
                <a:sym typeface="+mn-lt"/>
              </a:endParaRPr>
            </a:p>
          </p:txBody>
        </p:sp>
      </p:grpSp>
      <p:sp>
        <p:nvSpPr>
          <p:cNvPr id="18" name="淘宝-想搞设计(倒卖必究)-18"/>
          <p:cNvSpPr/>
          <p:nvPr/>
        </p:nvSpPr>
        <p:spPr>
          <a:xfrm>
            <a:off x="-184150" y="6663690"/>
            <a:ext cx="12636500" cy="270510"/>
          </a:xfrm>
          <a:prstGeom prst="rect">
            <a:avLst/>
          </a:prstGeom>
          <a:solidFill>
            <a:srgbClr val="E08D2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90830" y="0"/>
            <a:ext cx="3252470" cy="868680"/>
          </a:xfrm>
          <a:prstGeom prst="rect">
            <a:avLst/>
          </a:prstGeom>
          <a:noFill/>
        </p:spPr>
        <p:txBody>
          <a:bodyPr wrap="square" rtlCol="0">
            <a:noAutofit/>
          </a:bodyPr>
          <a:lstStyle/>
          <a:p>
            <a:pPr algn="ctr">
              <a:lnSpc>
                <a:spcPct val="120000"/>
              </a:lnSpc>
            </a:pPr>
            <a:r>
              <a:rPr kumimoji="1" lang="en-US" altLang="en-GB" sz="4000" b="1" dirty="0">
                <a:solidFill>
                  <a:schemeClr val="tx1"/>
                </a:solidFill>
                <a:latin typeface="Arial" panose="020B0604020202020204" pitchFamily="34" charset="0"/>
                <a:ea typeface="微软雅黑" panose="020B0503020204020204" pitchFamily="34" charset="-122"/>
                <a:cs typeface="Arial" panose="020B0604020202020204" pitchFamily="34" charset="0"/>
              </a:rPr>
              <a:t>CONTENTS</a:t>
            </a:r>
            <a:endParaRPr kumimoji="1" lang="en-US" altLang="en-GB" sz="4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淘宝-想搞设计(倒卖必究)-3"/>
          <p:cNvSpPr txBox="1"/>
          <p:nvPr/>
        </p:nvSpPr>
        <p:spPr>
          <a:xfrm>
            <a:off x="977265" y="2211089"/>
            <a:ext cx="8992577" cy="460375"/>
          </a:xfrm>
          <a:prstGeom prst="rect">
            <a:avLst/>
          </a:prstGeom>
          <a:noFill/>
        </p:spPr>
        <p:txBody>
          <a:bodyPr wrap="square">
            <a:spAutoFit/>
          </a:bodyPr>
          <a:lstStyle/>
          <a:p>
            <a:r>
              <a:rPr kumimoji="1" lang="en-US" altLang="zh-CN" sz="2400" b="1" dirty="0">
                <a:solidFill>
                  <a:schemeClr val="tx1"/>
                </a:solidFill>
                <a:latin typeface="Arial" panose="020B0604020202020204" pitchFamily="34" charset="0"/>
                <a:ea typeface="微软雅黑" panose="020B0503020204020204" pitchFamily="34" charset="-122"/>
                <a:cs typeface="Arial" panose="020B0604020202020204" pitchFamily="34" charset="0"/>
              </a:rPr>
              <a:t>1. Progress Report for the Past Two Weeks</a:t>
            </a:r>
            <a:endParaRPr kumimoji="1" lang="en-US" altLang="zh-CN" sz="24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淘宝-想搞设计(倒卖必究)-6"/>
          <p:cNvSpPr txBox="1"/>
          <p:nvPr/>
        </p:nvSpPr>
        <p:spPr>
          <a:xfrm>
            <a:off x="977265" y="3075423"/>
            <a:ext cx="8992577" cy="460375"/>
          </a:xfrm>
          <a:prstGeom prst="rect">
            <a:avLst/>
          </a:prstGeom>
          <a:noFill/>
        </p:spPr>
        <p:txBody>
          <a:bodyPr wrap="square">
            <a:spAutoFit/>
          </a:bodyPr>
          <a:lstStyle/>
          <a:p>
            <a:r>
              <a:rPr kumimoji="1" lang="en-US" altLang="zh-CN" sz="2400" b="1" dirty="0">
                <a:solidFill>
                  <a:schemeClr val="tx1"/>
                </a:solidFill>
                <a:latin typeface="Arial" panose="020B0604020202020204" pitchFamily="34" charset="0"/>
                <a:ea typeface="微软雅黑" panose="020B0503020204020204" pitchFamily="34" charset="-122"/>
                <a:cs typeface="Arial" panose="020B0604020202020204" pitchFamily="34" charset="0"/>
              </a:rPr>
              <a:t>2. Project Plan for the Next Two Months</a:t>
            </a:r>
            <a:endParaRPr kumimoji="1" lang="en-US" altLang="zh-CN" sz="24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92" name="Picture 91" descr="香港大学.png"/>
          <p:cNvPicPr>
            <a:picLocks noChangeAspect="1"/>
          </p:cNvPicPr>
          <p:nvPr/>
        </p:nvPicPr>
        <p:blipFill>
          <a:blip r:embed="rId1"/>
          <a:stretch>
            <a:fillRect/>
          </a:stretch>
        </p:blipFill>
        <p:spPr>
          <a:xfrm>
            <a:off x="9679305" y="127952"/>
            <a:ext cx="2221865" cy="430699"/>
          </a:xfrm>
          <a:prstGeom prst="rect">
            <a:avLst/>
          </a:prstGeom>
        </p:spPr>
      </p:pic>
      <p:sp>
        <p:nvSpPr>
          <p:cNvPr id="91" name="淘宝-想搞设计(倒卖必究)-91"/>
          <p:cNvSpPr/>
          <p:nvPr/>
        </p:nvSpPr>
        <p:spPr>
          <a:xfrm>
            <a:off x="0" y="868989"/>
            <a:ext cx="12192000" cy="3810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0">
                <a:schemeClr val="accent1">
                  <a:lumMod val="5000"/>
                  <a:lumOff val="95000"/>
                </a:schemeClr>
              </a:gs>
              <a:gs pos="99000">
                <a:srgbClr val="613C10"/>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淘宝-想搞设计(倒卖必究)-10"/>
          <p:cNvSpPr/>
          <p:nvPr/>
        </p:nvSpPr>
        <p:spPr>
          <a:xfrm>
            <a:off x="-184150" y="6663690"/>
            <a:ext cx="12636500" cy="270510"/>
          </a:xfrm>
          <a:prstGeom prst="rect">
            <a:avLst/>
          </a:prstGeom>
          <a:solidFill>
            <a:srgbClr val="E08D2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714946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1.1 Gripper Design &amp; Tactile Feedback Loop</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17" name="淘宝-想搞设计(倒卖必究)-17"/>
          <p:cNvSpPr txBox="1"/>
          <p:nvPr/>
        </p:nvSpPr>
        <p:spPr>
          <a:xfrm>
            <a:off x="1053207" y="2001326"/>
            <a:ext cx="10105269" cy="506730"/>
          </a:xfrm>
          <a:prstGeom prst="rect">
            <a:avLst/>
          </a:prstGeom>
          <a:noFill/>
        </p:spPr>
        <p:txBody>
          <a:bodyPr wrap="square" rtlCol="0">
            <a:spAutoFit/>
          </a:bodyPr>
          <a:lstStyle/>
          <a:p>
            <a:pPr algn="just">
              <a:lnSpc>
                <a:spcPct val="150000"/>
              </a:lnSpc>
            </a:pPr>
            <a:r>
              <a:rPr lang="en-US" altLang="zh-CN" dirty="0"/>
              <a:t>  </a:t>
            </a:r>
            <a:endParaRPr lang="en-US" altLang="zh-CN" b="1" dirty="0">
              <a:solidFill>
                <a:prstClr val="black"/>
              </a:solidFill>
              <a:cs typeface="+mn-ea"/>
              <a:sym typeface="+mn-lt"/>
            </a:endParaRPr>
          </a:p>
        </p:txBody>
      </p:sp>
      <p:grpSp>
        <p:nvGrpSpPr>
          <p:cNvPr id="63" name="组合 62"/>
          <p:cNvGrpSpPr/>
          <p:nvPr>
            <p:custDataLst>
              <p:tags r:id="rId1"/>
            </p:custDataLst>
          </p:nvPr>
        </p:nvGrpSpPr>
        <p:grpSpPr>
          <a:xfrm>
            <a:off x="0" y="-8890"/>
            <a:ext cx="12192000" cy="810895"/>
            <a:chOff x="0" y="496"/>
            <a:chExt cx="19200" cy="1277"/>
          </a:xfrm>
        </p:grpSpPr>
        <p:grpSp>
          <p:nvGrpSpPr>
            <p:cNvPr id="33" name="组合 32"/>
            <p:cNvGrpSpPr/>
            <p:nvPr>
              <p:custDataLst>
                <p:tags r:id="rId2"/>
              </p:custDataLst>
            </p:nvPr>
          </p:nvGrpSpPr>
          <p:grpSpPr>
            <a:xfrm>
              <a:off x="0" y="496"/>
              <a:ext cx="19200" cy="1247"/>
              <a:chOff x="0" y="473042"/>
              <a:chExt cx="12192000" cy="792000"/>
            </a:xfrm>
          </p:grpSpPr>
          <p:sp>
            <p:nvSpPr>
              <p:cNvPr id="34" name="淘宝-想搞设计(倒卖必究)-34"/>
              <p:cNvSpPr/>
              <p:nvPr>
                <p:custDataLst>
                  <p:tags r:id="rId3"/>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endParaRPr lang="zh-CN" altLang="en-US" b="0" dirty="0">
                  <a:solidFill>
                    <a:schemeClr val="bg1">
                      <a:lumMod val="65000"/>
                    </a:schemeClr>
                  </a:solidFill>
                </a:endParaRPr>
              </a:p>
            </p:txBody>
          </p:sp>
          <p:pic>
            <p:nvPicPr>
              <p:cNvPr id="64" name="Picture 63" descr="香港大学.png"/>
              <p:cNvPicPr>
                <a:picLocks noChangeAspect="1"/>
              </p:cNvPicPr>
              <p:nvPr/>
            </p:nvPicPr>
            <p:blipFill>
              <a:blip r:embed="rId4"/>
              <a:stretch>
                <a:fillRect/>
              </a:stretch>
            </p:blipFill>
            <p:spPr>
              <a:xfrm>
                <a:off x="9975020" y="686444"/>
                <a:ext cx="1706384" cy="330775"/>
              </a:xfrm>
              <a:prstGeom prst="rect">
                <a:avLst/>
              </a:prstGeom>
            </p:spPr>
          </p:pic>
        </p:grpSp>
        <p:sp>
          <p:nvSpPr>
            <p:cNvPr id="40" name="淘宝-想搞设计(倒卖必究)-40"/>
            <p:cNvSpPr/>
            <p:nvPr>
              <p:custDataLst>
                <p:tags r:id="rId5"/>
              </p:custDataLst>
            </p:nvPr>
          </p:nvSpPr>
          <p:spPr>
            <a:xfrm>
              <a:off x="0" y="1713"/>
              <a:ext cx="19200" cy="6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4" name="文本框 3"/>
          <p:cNvSpPr txBox="1"/>
          <p:nvPr/>
        </p:nvSpPr>
        <p:spPr>
          <a:xfrm>
            <a:off x="721360" y="1709420"/>
            <a:ext cx="6096000" cy="922020"/>
          </a:xfrm>
          <a:prstGeom prst="rect">
            <a:avLst/>
          </a:prstGeom>
          <a:noFill/>
        </p:spPr>
        <p:txBody>
          <a:bodyPr wrap="square" rtlCol="0" anchor="t">
            <a:spAutoFit/>
          </a:bodyPr>
          <a:p>
            <a:r>
              <a:rPr lang="en-US" altLang="zh-CN"/>
              <a:t>  Aimming to provide a reliable physical validation platform for the application and performance testing of tactile sensors</a:t>
            </a:r>
            <a:r>
              <a:rPr lang="zh-CN" altLang="en-US"/>
              <a:t>，</a:t>
            </a:r>
            <a:r>
              <a:rPr lang="en-US" altLang="zh-CN"/>
              <a:t>I </a:t>
            </a:r>
            <a:r>
              <a:rPr lang="en-US" altLang="zh-CN"/>
              <a:t>designed a robotic gripper.</a:t>
            </a:r>
            <a:endParaRPr lang="en-US" altLang="zh-CN"/>
          </a:p>
        </p:txBody>
      </p:sp>
      <p:pic>
        <p:nvPicPr>
          <p:cNvPr id="3" name="图片 2" descr="机械夹爪与传感器配合的全结构照片"/>
          <p:cNvPicPr>
            <a:picLocks noChangeAspect="1"/>
          </p:cNvPicPr>
          <p:nvPr/>
        </p:nvPicPr>
        <p:blipFill>
          <a:blip r:embed="rId6"/>
          <a:stretch>
            <a:fillRect/>
          </a:stretch>
        </p:blipFill>
        <p:spPr>
          <a:xfrm>
            <a:off x="6543040" y="2307590"/>
            <a:ext cx="4937760" cy="4003040"/>
          </a:xfrm>
          <a:prstGeom prst="rect">
            <a:avLst/>
          </a:prstGeom>
        </p:spPr>
      </p:pic>
      <p:pic>
        <p:nvPicPr>
          <p:cNvPr id="6" name="图片 5" descr="机械夹爪与传感器配合的全结构照片（背面）"/>
          <p:cNvPicPr>
            <a:picLocks noChangeAspect="1"/>
          </p:cNvPicPr>
          <p:nvPr/>
        </p:nvPicPr>
        <p:blipFill>
          <a:blip r:embed="rId7"/>
          <a:stretch>
            <a:fillRect/>
          </a:stretch>
        </p:blipFill>
        <p:spPr>
          <a:xfrm>
            <a:off x="289560" y="2733040"/>
            <a:ext cx="5329555" cy="3880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714946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1.1 </a:t>
            </a:r>
            <a:r>
              <a:rPr lang="en-US" altLang="zh-CN" dirty="0">
                <a:solidFill/>
                <a:sym typeface="+mn-ea"/>
              </a:rPr>
              <a:t>Gripper Design &amp; Tactile Feedback Loop</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63" name="组合 62"/>
          <p:cNvGrpSpPr/>
          <p:nvPr>
            <p:custDataLst>
              <p:tags r:id="rId1"/>
            </p:custDataLst>
          </p:nvPr>
        </p:nvGrpSpPr>
        <p:grpSpPr>
          <a:xfrm>
            <a:off x="0" y="-8890"/>
            <a:ext cx="12192000" cy="810895"/>
            <a:chOff x="0" y="496"/>
            <a:chExt cx="19200" cy="1277"/>
          </a:xfrm>
        </p:grpSpPr>
        <p:grpSp>
          <p:nvGrpSpPr>
            <p:cNvPr id="33" name="组合 32"/>
            <p:cNvGrpSpPr/>
            <p:nvPr>
              <p:custDataLst>
                <p:tags r:id="rId2"/>
              </p:custDataLst>
            </p:nvPr>
          </p:nvGrpSpPr>
          <p:grpSpPr>
            <a:xfrm>
              <a:off x="0" y="496"/>
              <a:ext cx="19200" cy="1247"/>
              <a:chOff x="0" y="473042"/>
              <a:chExt cx="12192000" cy="792000"/>
            </a:xfrm>
          </p:grpSpPr>
          <p:sp>
            <p:nvSpPr>
              <p:cNvPr id="34" name="淘宝-想搞设计(倒卖必究)-34"/>
              <p:cNvSpPr/>
              <p:nvPr>
                <p:custDataLst>
                  <p:tags r:id="rId3"/>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endParaRPr lang="zh-CN" altLang="en-US" b="0" dirty="0">
                  <a:solidFill>
                    <a:schemeClr val="bg1">
                      <a:lumMod val="65000"/>
                    </a:schemeClr>
                  </a:solidFill>
                </a:endParaRPr>
              </a:p>
            </p:txBody>
          </p:sp>
          <p:pic>
            <p:nvPicPr>
              <p:cNvPr id="64" name="Picture 63" descr="香港大学.png"/>
              <p:cNvPicPr>
                <a:picLocks noChangeAspect="1"/>
              </p:cNvPicPr>
              <p:nvPr/>
            </p:nvPicPr>
            <p:blipFill>
              <a:blip r:embed="rId4"/>
              <a:stretch>
                <a:fillRect/>
              </a:stretch>
            </p:blipFill>
            <p:spPr>
              <a:xfrm>
                <a:off x="9975020" y="686444"/>
                <a:ext cx="1706384" cy="330775"/>
              </a:xfrm>
              <a:prstGeom prst="rect">
                <a:avLst/>
              </a:prstGeom>
            </p:spPr>
          </p:pic>
        </p:grpSp>
        <p:sp>
          <p:nvSpPr>
            <p:cNvPr id="40" name="淘宝-想搞设计(倒卖必究)-40"/>
            <p:cNvSpPr/>
            <p:nvPr>
              <p:custDataLst>
                <p:tags r:id="rId5"/>
              </p:custDataLst>
            </p:nvPr>
          </p:nvSpPr>
          <p:spPr>
            <a:xfrm>
              <a:off x="0" y="1713"/>
              <a:ext cx="19200" cy="6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4" name="文本框 3"/>
          <p:cNvSpPr txBox="1"/>
          <p:nvPr/>
        </p:nvSpPr>
        <p:spPr>
          <a:xfrm>
            <a:off x="425450" y="1709420"/>
            <a:ext cx="5983605" cy="645160"/>
          </a:xfrm>
          <a:prstGeom prst="rect">
            <a:avLst/>
          </a:prstGeom>
          <a:noFill/>
        </p:spPr>
        <p:txBody>
          <a:bodyPr wrap="square" rtlCol="0">
            <a:spAutoFit/>
          </a:bodyPr>
          <a:p>
            <a:r>
              <a:rPr lang="en-US" altLang="zh-CN" b="1">
                <a:latin typeface="微软雅黑" panose="020B0503020204020204" pitchFamily="34" charset="-122"/>
                <a:ea typeface="微软雅黑" panose="020B0503020204020204" pitchFamily="34" charset="-122"/>
              </a:rPr>
              <a:t>The Principles of Visuo-Tactile Closed-Loop Control</a:t>
            </a:r>
            <a:r>
              <a:rPr lang="zh-CN" altLang="en-US" b="1">
                <a:latin typeface="微软雅黑" panose="020B0503020204020204" pitchFamily="34" charset="-122"/>
                <a:ea typeface="微软雅黑" panose="020B0503020204020204" pitchFamily="34" charset="-122"/>
              </a:rPr>
              <a:t>：</a:t>
            </a:r>
            <a:endParaRPr lang="zh-CN" altLang="en-US" b="1">
              <a:latin typeface="微软雅黑" panose="020B0503020204020204" pitchFamily="34" charset="-122"/>
              <a:ea typeface="微软雅黑" panose="020B0503020204020204" pitchFamily="34" charset="-122"/>
            </a:endParaRPr>
          </a:p>
        </p:txBody>
      </p:sp>
      <p:sp>
        <p:nvSpPr>
          <p:cNvPr id="7" name="文本框 6"/>
          <p:cNvSpPr txBox="1"/>
          <p:nvPr/>
        </p:nvSpPr>
        <p:spPr>
          <a:xfrm>
            <a:off x="520700" y="2414270"/>
            <a:ext cx="11308080" cy="4154170"/>
          </a:xfrm>
          <a:prstGeom prst="rect">
            <a:avLst/>
          </a:prstGeom>
          <a:noFill/>
        </p:spPr>
        <p:txBody>
          <a:bodyPr wrap="square" rtlCol="0">
            <a:spAutoFit/>
          </a:bodyPr>
          <a:p>
            <a:pPr marL="285750" indent="-285750">
              <a:lnSpc>
                <a:spcPct val="150000"/>
              </a:lnSpc>
              <a:buFont typeface="Wingdings" panose="05000000000000000000" charset="0"/>
              <a:buChar char="l"/>
            </a:pPr>
            <a:r>
              <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1: Pre-Calibration &amp; Initial Approach</a:t>
            </a:r>
            <a:endPar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400050" indent="-400050">
              <a:lnSpc>
                <a:spcPct val="150000"/>
              </a:lnSpc>
              <a:buFont typeface="+mj-lt"/>
              <a:buAutoNum type="romanUcPeriod"/>
            </a:pPr>
            <a:r>
              <a:rPr lang="en-US" altLang="zh-CN" sz="1400" b="1">
                <a:latin typeface="微软雅黑" panose="020B0503020204020204" pitchFamily="34" charset="-122"/>
                <a:ea typeface="微软雅黑" panose="020B0503020204020204" pitchFamily="34" charset="-122"/>
              </a:rPr>
              <a:t>Calibration Force Setting:</a:t>
            </a:r>
            <a:r>
              <a:rPr lang="en-US" altLang="zh-CN" sz="1400">
                <a:latin typeface="微软雅黑" panose="020B0503020204020204" pitchFamily="34" charset="-122"/>
                <a:ea typeface="微软雅黑" panose="020B0503020204020204" pitchFamily="34" charset="-122"/>
              </a:rPr>
              <a:t> Upon system initialization, a safe and basic "calibration grasping force" is preset as the initial target.</a:t>
            </a:r>
            <a:endParaRPr lang="en-US" altLang="zh-CN" sz="1400">
              <a:latin typeface="微软雅黑" panose="020B0503020204020204" pitchFamily="34" charset="-122"/>
              <a:ea typeface="微软雅黑" panose="020B0503020204020204" pitchFamily="34" charset="-122"/>
            </a:endParaRPr>
          </a:p>
          <a:p>
            <a:pPr marL="400050" indent="-400050">
              <a:lnSpc>
                <a:spcPct val="150000"/>
              </a:lnSpc>
              <a:buFont typeface="+mj-lt"/>
              <a:buAutoNum type="romanUcPeriod"/>
            </a:pPr>
            <a:r>
              <a:rPr lang="en-US" altLang="zh-CN" sz="1400" b="1">
                <a:latin typeface="微软雅黑" panose="020B0503020204020204" pitchFamily="34" charset="-122"/>
                <a:ea typeface="微软雅黑" panose="020B0503020204020204" pitchFamily="34" charset="-122"/>
              </a:rPr>
              <a:t>Initial Closure:</a:t>
            </a:r>
            <a:r>
              <a:rPr lang="en-US" altLang="zh-CN" sz="1400">
                <a:latin typeface="微软雅黑" panose="020B0503020204020204" pitchFamily="34" charset="-122"/>
                <a:ea typeface="微软雅黑" panose="020B0503020204020204" pitchFamily="34" charset="-122"/>
              </a:rPr>
              <a:t> The controller sends an open-loop command to the MG996R servo, driving the gripper to close until the silicone surface just contacts the object and reaches an initial, slight force state.</a:t>
            </a: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en-US" altLang="zh-CN" sz="1800"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2: Photometric Perception &amp; 3D Reconstruction</a:t>
            </a:r>
            <a:endParaRPr lang="en-US" altLang="zh-CN" sz="1800"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400050" indent="-400050" algn="l">
              <a:lnSpc>
                <a:spcPct val="150000"/>
              </a:lnSpc>
              <a:buClrTx/>
              <a:buSzTx/>
              <a:buFont typeface="+mj-lt"/>
              <a:buAutoNum type="romanUcPeriod"/>
            </a:pPr>
            <a:r>
              <a:rPr lang="en-US" altLang="zh-CN" sz="1400" b="1">
                <a:latin typeface="微软雅黑" panose="020B0503020204020204" pitchFamily="34" charset="-122"/>
                <a:ea typeface="微软雅黑" panose="020B0503020204020204" pitchFamily="34" charset="-122"/>
              </a:rPr>
              <a:t>Capturing Illumination Distortion:</a:t>
            </a:r>
            <a:r>
              <a:rPr lang="en-US" altLang="zh-CN" sz="1400">
                <a:latin typeface="微软雅黑" panose="020B0503020204020204" pitchFamily="34" charset="-122"/>
                <a:ea typeface="微软雅黑" panose="020B0503020204020204" pitchFamily="34" charset="-122"/>
              </a:rPr>
              <a:t> As the silicone deforms under pressure, the light intensity and shadows generated by the internal LED array change subtly. The OV5640 camera captures these high-resolution image signals in real-time.</a:t>
            </a:r>
            <a:endParaRPr lang="en-US" altLang="zh-CN" sz="1400">
              <a:latin typeface="微软雅黑" panose="020B0503020204020204" pitchFamily="34" charset="-122"/>
              <a:ea typeface="微软雅黑" panose="020B0503020204020204" pitchFamily="34" charset="-122"/>
            </a:endParaRPr>
          </a:p>
          <a:p>
            <a:pPr marL="400050" indent="-400050" algn="l">
              <a:lnSpc>
                <a:spcPct val="150000"/>
              </a:lnSpc>
              <a:buClrTx/>
              <a:buSzTx/>
              <a:buFont typeface="+mj-lt"/>
              <a:buAutoNum type="romanUcPeriod"/>
            </a:pPr>
            <a:r>
              <a:rPr lang="en-US" altLang="zh-CN" sz="1400" b="1">
                <a:latin typeface="微软雅黑" panose="020B0503020204020204" pitchFamily="34" charset="-122"/>
                <a:ea typeface="微软雅黑" panose="020B0503020204020204" pitchFamily="34" charset="-122"/>
              </a:rPr>
              <a:t>Image to Tactile Force:</a:t>
            </a:r>
            <a:r>
              <a:rPr lang="en-US" altLang="zh-CN" sz="1400">
                <a:latin typeface="微软雅黑" panose="020B0503020204020204" pitchFamily="34" charset="-122"/>
                <a:ea typeface="微软雅黑" panose="020B0503020204020204" pitchFamily="34" charset="-122"/>
              </a:rPr>
              <a:t> The Raspberry Pi uses photometric stereo algorithms to perform a 3D geometric reconstruction of the contact surface based on light intensity changes, thereby accurately calculating the current physical contact force and stress distribution.</a:t>
            </a:r>
            <a:endParaRPr lang="en-US" altLang="zh-CN" sz="1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714946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1.1 </a:t>
            </a:r>
            <a:r>
              <a:rPr lang="en-US" altLang="zh-CN" dirty="0">
                <a:solidFill/>
                <a:sym typeface="+mn-ea"/>
              </a:rPr>
              <a:t>Gripper Design &amp; Tactile Feedback Loop</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63" name="组合 62"/>
          <p:cNvGrpSpPr/>
          <p:nvPr>
            <p:custDataLst>
              <p:tags r:id="rId1"/>
            </p:custDataLst>
          </p:nvPr>
        </p:nvGrpSpPr>
        <p:grpSpPr>
          <a:xfrm>
            <a:off x="0" y="-8890"/>
            <a:ext cx="12192000" cy="810895"/>
            <a:chOff x="0" y="496"/>
            <a:chExt cx="19200" cy="1277"/>
          </a:xfrm>
        </p:grpSpPr>
        <p:grpSp>
          <p:nvGrpSpPr>
            <p:cNvPr id="33" name="组合 32"/>
            <p:cNvGrpSpPr/>
            <p:nvPr>
              <p:custDataLst>
                <p:tags r:id="rId2"/>
              </p:custDataLst>
            </p:nvPr>
          </p:nvGrpSpPr>
          <p:grpSpPr>
            <a:xfrm>
              <a:off x="0" y="496"/>
              <a:ext cx="19200" cy="1247"/>
              <a:chOff x="0" y="473042"/>
              <a:chExt cx="12192000" cy="792000"/>
            </a:xfrm>
          </p:grpSpPr>
          <p:sp>
            <p:nvSpPr>
              <p:cNvPr id="34" name="淘宝-想搞设计(倒卖必究)-34"/>
              <p:cNvSpPr/>
              <p:nvPr>
                <p:custDataLst>
                  <p:tags r:id="rId3"/>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endParaRPr lang="zh-CN" altLang="en-US" b="0" dirty="0">
                  <a:solidFill>
                    <a:schemeClr val="bg1">
                      <a:lumMod val="65000"/>
                    </a:schemeClr>
                  </a:solidFill>
                </a:endParaRPr>
              </a:p>
            </p:txBody>
          </p:sp>
          <p:pic>
            <p:nvPicPr>
              <p:cNvPr id="64" name="Picture 63" descr="香港大学.png"/>
              <p:cNvPicPr>
                <a:picLocks noChangeAspect="1"/>
              </p:cNvPicPr>
              <p:nvPr/>
            </p:nvPicPr>
            <p:blipFill>
              <a:blip r:embed="rId4"/>
              <a:stretch>
                <a:fillRect/>
              </a:stretch>
            </p:blipFill>
            <p:spPr>
              <a:xfrm>
                <a:off x="9975020" y="686444"/>
                <a:ext cx="1706384" cy="330775"/>
              </a:xfrm>
              <a:prstGeom prst="rect">
                <a:avLst/>
              </a:prstGeom>
            </p:spPr>
          </p:pic>
        </p:grpSp>
        <p:sp>
          <p:nvSpPr>
            <p:cNvPr id="40" name="淘宝-想搞设计(倒卖必究)-40"/>
            <p:cNvSpPr/>
            <p:nvPr>
              <p:custDataLst>
                <p:tags r:id="rId5"/>
              </p:custDataLst>
            </p:nvPr>
          </p:nvSpPr>
          <p:spPr>
            <a:xfrm>
              <a:off x="0" y="1713"/>
              <a:ext cx="19200" cy="6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 name="文本框 1"/>
          <p:cNvSpPr txBox="1"/>
          <p:nvPr/>
        </p:nvSpPr>
        <p:spPr>
          <a:xfrm>
            <a:off x="425450" y="1794510"/>
            <a:ext cx="11308080" cy="4954270"/>
          </a:xfrm>
          <a:prstGeom prst="rect">
            <a:avLst/>
          </a:prstGeom>
          <a:noFill/>
        </p:spPr>
        <p:txBody>
          <a:bodyPr wrap="square" rtlCol="0">
            <a:noAutofit/>
          </a:bodyPr>
          <a:p>
            <a:pPr marL="285750" indent="-285750">
              <a:lnSpc>
                <a:spcPct val="150000"/>
              </a:lnSpc>
              <a:buFont typeface="Wingdings" panose="05000000000000000000" charset="0"/>
              <a:buChar char="l"/>
            </a:pPr>
            <a:r>
              <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3: Error Calculation &amp; Dynamic Fine-Tuning</a:t>
            </a:r>
            <a:endPar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400050" indent="-400050">
              <a:lnSpc>
                <a:spcPct val="150000"/>
              </a:lnSpc>
              <a:buFont typeface="+mj-lt"/>
              <a:buAutoNum type="romanUcPeriod"/>
            </a:pPr>
            <a:r>
              <a:rPr lang="en-US" altLang="zh-CN" sz="1400" b="1">
                <a:latin typeface="微软雅黑" panose="020B0503020204020204" pitchFamily="34" charset="-122"/>
                <a:ea typeface="微软雅黑" panose="020B0503020204020204" pitchFamily="34" charset="-122"/>
              </a:rPr>
              <a:t>Real-Time Correction:</a:t>
            </a:r>
            <a:r>
              <a:rPr lang="en-US" altLang="zh-CN" sz="1400">
                <a:latin typeface="微软雅黑" panose="020B0503020204020204" pitchFamily="34" charset="-122"/>
                <a:ea typeface="微软雅黑" panose="020B0503020204020204" pitchFamily="34" charset="-122"/>
              </a:rPr>
              <a:t> The Raspberry Pi calculates the error between the "3D-reconstructed real-time force" and the "calibration force" at a high frequency.</a:t>
            </a:r>
            <a:endParaRPr lang="en-US" altLang="zh-CN" sz="1400">
              <a:latin typeface="微软雅黑" panose="020B0503020204020204" pitchFamily="34" charset="-122"/>
              <a:ea typeface="微软雅黑" panose="020B0503020204020204" pitchFamily="34" charset="-122"/>
            </a:endParaRPr>
          </a:p>
          <a:p>
            <a:pPr marL="400050" indent="-400050">
              <a:lnSpc>
                <a:spcPct val="150000"/>
              </a:lnSpc>
              <a:buFont typeface="+mj-lt"/>
              <a:buAutoNum type="romanUcPeriod"/>
            </a:pPr>
            <a:r>
              <a:rPr lang="en-US" altLang="zh-CN" sz="1400" b="1">
                <a:latin typeface="微软雅黑" panose="020B0503020204020204" pitchFamily="34" charset="-122"/>
                <a:ea typeface="微软雅黑" panose="020B0503020204020204" pitchFamily="34" charset="-122"/>
              </a:rPr>
              <a:t>Flexible Adaptation: </a:t>
            </a:r>
            <a:r>
              <a:rPr lang="en-US" altLang="zh-CN" sz="1400">
                <a:latin typeface="微软雅黑" panose="020B0503020204020204" pitchFamily="34" charset="-122"/>
                <a:ea typeface="微软雅黑" panose="020B0503020204020204" pitchFamily="34" charset="-122"/>
              </a:rPr>
              <a:t>If the current force is less than the calibration force, it fine-tunes the PWM signal to slowly increase pressure; if the force is too high, it slightly opens the gripper. Through this millimeter-level dynamic adjustment, it achieves a perfect "soft grasp" on fragile or unknown-hardness objects.</a:t>
            </a: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en-US" altLang="zh-CN" sz="1800"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4: Slip Warning &amp; Transient Response</a:t>
            </a:r>
            <a:endParaRPr lang="en-US" altLang="zh-CN" sz="1800"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400050" indent="-400050" algn="l">
              <a:lnSpc>
                <a:spcPct val="150000"/>
              </a:lnSpc>
              <a:buClrTx/>
              <a:buSzTx/>
              <a:buFont typeface="+mj-lt"/>
              <a:buAutoNum type="romanUcPeriod"/>
            </a:pPr>
            <a:r>
              <a:rPr lang="en-US" altLang="zh-CN" sz="1400" b="1">
                <a:latin typeface="微软雅黑" panose="020B0503020204020204" pitchFamily="34" charset="-122"/>
                <a:ea typeface="微软雅黑" panose="020B0503020204020204" pitchFamily="34" charset="-122"/>
              </a:rPr>
              <a:t>Shear Force Monitoring: </a:t>
            </a:r>
            <a:r>
              <a:rPr lang="en-US" altLang="zh-CN" sz="1400">
                <a:latin typeface="微软雅黑" panose="020B0503020204020204" pitchFamily="34" charset="-122"/>
                <a:ea typeface="微软雅黑" panose="020B0503020204020204" pitchFamily="34" charset="-122"/>
              </a:rPr>
              <a:t>During the 3D reconstruction, if dynamic downward displacement of the contact surface texture is detected (i.e., a sudden change in shear force), the system immediately determines that the object is slipping.</a:t>
            </a:r>
            <a:endParaRPr lang="en-US" altLang="zh-CN" sz="1400" b="1">
              <a:latin typeface="微软雅黑" panose="020B0503020204020204" pitchFamily="34" charset="-122"/>
              <a:ea typeface="微软雅黑" panose="020B0503020204020204" pitchFamily="34" charset="-122"/>
            </a:endParaRPr>
          </a:p>
          <a:p>
            <a:pPr marL="400050" indent="-400050" algn="l">
              <a:lnSpc>
                <a:spcPct val="150000"/>
              </a:lnSpc>
              <a:buClrTx/>
              <a:buSzTx/>
              <a:buFont typeface="+mj-lt"/>
              <a:buAutoNum type="romanUcPeriod"/>
            </a:pPr>
            <a:r>
              <a:rPr lang="en-US" altLang="zh-CN" sz="1400" b="1">
                <a:latin typeface="微软雅黑" panose="020B0503020204020204" pitchFamily="34" charset="-122"/>
                <a:ea typeface="微软雅黑" panose="020B0503020204020204" pitchFamily="34" charset="-122"/>
              </a:rPr>
              <a:t>Anti-Slip Interrupt: </a:t>
            </a:r>
            <a:r>
              <a:rPr lang="en-US" altLang="zh-CN" sz="1400">
                <a:latin typeface="微软雅黑" panose="020B0503020204020204" pitchFamily="34" charset="-122"/>
                <a:ea typeface="微软雅黑" panose="020B0503020204020204" pitchFamily="34" charset="-122"/>
              </a:rPr>
              <a:t>It triggers the highest-priority control, instantaneously increasing the servo's closing angle to lock the object, and automatically switches back to the regular force fine-tuning loop once stabilized.</a:t>
            </a:r>
            <a:endParaRPr lang="en-US" altLang="zh-CN" sz="1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714946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1.1 </a:t>
            </a:r>
            <a:r>
              <a:rPr lang="en-US" altLang="zh-CN" dirty="0">
                <a:solidFill/>
                <a:sym typeface="+mn-ea"/>
              </a:rPr>
              <a:t>Gripper Design &amp; Tactile Feedback Loop</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63" name="组合 62"/>
          <p:cNvGrpSpPr/>
          <p:nvPr>
            <p:custDataLst>
              <p:tags r:id="rId1"/>
            </p:custDataLst>
          </p:nvPr>
        </p:nvGrpSpPr>
        <p:grpSpPr>
          <a:xfrm>
            <a:off x="0" y="-8890"/>
            <a:ext cx="12192000" cy="810895"/>
            <a:chOff x="0" y="496"/>
            <a:chExt cx="19200" cy="1277"/>
          </a:xfrm>
        </p:grpSpPr>
        <p:grpSp>
          <p:nvGrpSpPr>
            <p:cNvPr id="33" name="组合 32"/>
            <p:cNvGrpSpPr/>
            <p:nvPr>
              <p:custDataLst>
                <p:tags r:id="rId2"/>
              </p:custDataLst>
            </p:nvPr>
          </p:nvGrpSpPr>
          <p:grpSpPr>
            <a:xfrm>
              <a:off x="0" y="496"/>
              <a:ext cx="19200" cy="1247"/>
              <a:chOff x="0" y="473042"/>
              <a:chExt cx="12192000" cy="792000"/>
            </a:xfrm>
          </p:grpSpPr>
          <p:sp>
            <p:nvSpPr>
              <p:cNvPr id="34" name="淘宝-想搞设计(倒卖必究)-34"/>
              <p:cNvSpPr/>
              <p:nvPr>
                <p:custDataLst>
                  <p:tags r:id="rId3"/>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endParaRPr lang="zh-CN" altLang="en-US" b="0" dirty="0">
                  <a:solidFill>
                    <a:schemeClr val="bg1">
                      <a:lumMod val="65000"/>
                    </a:schemeClr>
                  </a:solidFill>
                </a:endParaRPr>
              </a:p>
            </p:txBody>
          </p:sp>
          <p:pic>
            <p:nvPicPr>
              <p:cNvPr id="64" name="Picture 63" descr="香港大学.png"/>
              <p:cNvPicPr>
                <a:picLocks noChangeAspect="1"/>
              </p:cNvPicPr>
              <p:nvPr/>
            </p:nvPicPr>
            <p:blipFill>
              <a:blip r:embed="rId4"/>
              <a:stretch>
                <a:fillRect/>
              </a:stretch>
            </p:blipFill>
            <p:spPr>
              <a:xfrm>
                <a:off x="9975020" y="686444"/>
                <a:ext cx="1706384" cy="330775"/>
              </a:xfrm>
              <a:prstGeom prst="rect">
                <a:avLst/>
              </a:prstGeom>
            </p:spPr>
          </p:pic>
        </p:grpSp>
        <p:sp>
          <p:nvSpPr>
            <p:cNvPr id="40" name="淘宝-想搞设计(倒卖必究)-40"/>
            <p:cNvSpPr/>
            <p:nvPr>
              <p:custDataLst>
                <p:tags r:id="rId5"/>
              </p:custDataLst>
            </p:nvPr>
          </p:nvSpPr>
          <p:spPr>
            <a:xfrm>
              <a:off x="0" y="1713"/>
              <a:ext cx="19200" cy="6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3" name="图片 2" descr="gemini-3.1-flash-image-preview (nano-banana-2)_a_根据这两张图片中描述的闭环控制逻辑来帮我"/>
          <p:cNvPicPr>
            <a:picLocks noChangeAspect="1"/>
          </p:cNvPicPr>
          <p:nvPr/>
        </p:nvPicPr>
        <p:blipFill>
          <a:blip r:embed="rId6"/>
          <a:srcRect t="11630"/>
          <a:stretch>
            <a:fillRect/>
          </a:stretch>
        </p:blipFill>
        <p:spPr>
          <a:xfrm>
            <a:off x="289560" y="2215515"/>
            <a:ext cx="11755120" cy="39903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475424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1.2 Refining the BOM details</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63" name="组合 62"/>
          <p:cNvGrpSpPr/>
          <p:nvPr>
            <p:custDataLst>
              <p:tags r:id="rId1"/>
            </p:custDataLst>
          </p:nvPr>
        </p:nvGrpSpPr>
        <p:grpSpPr>
          <a:xfrm>
            <a:off x="0" y="-8890"/>
            <a:ext cx="12192000" cy="810895"/>
            <a:chOff x="0" y="496"/>
            <a:chExt cx="19200" cy="1277"/>
          </a:xfrm>
        </p:grpSpPr>
        <p:grpSp>
          <p:nvGrpSpPr>
            <p:cNvPr id="33" name="组合 32"/>
            <p:cNvGrpSpPr/>
            <p:nvPr>
              <p:custDataLst>
                <p:tags r:id="rId2"/>
              </p:custDataLst>
            </p:nvPr>
          </p:nvGrpSpPr>
          <p:grpSpPr>
            <a:xfrm>
              <a:off x="0" y="496"/>
              <a:ext cx="19200" cy="1247"/>
              <a:chOff x="0" y="473042"/>
              <a:chExt cx="12192000" cy="792000"/>
            </a:xfrm>
          </p:grpSpPr>
          <p:sp>
            <p:nvSpPr>
              <p:cNvPr id="34" name="淘宝-想搞设计(倒卖必究)-34"/>
              <p:cNvSpPr/>
              <p:nvPr>
                <p:custDataLst>
                  <p:tags r:id="rId3"/>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endParaRPr lang="zh-CN" altLang="en-US" b="0" dirty="0">
                  <a:solidFill>
                    <a:schemeClr val="bg1">
                      <a:lumMod val="65000"/>
                    </a:schemeClr>
                  </a:solidFill>
                </a:endParaRPr>
              </a:p>
            </p:txBody>
          </p:sp>
          <p:pic>
            <p:nvPicPr>
              <p:cNvPr id="64" name="Picture 63" descr="香港大学.png"/>
              <p:cNvPicPr>
                <a:picLocks noChangeAspect="1"/>
              </p:cNvPicPr>
              <p:nvPr/>
            </p:nvPicPr>
            <p:blipFill>
              <a:blip r:embed="rId4"/>
              <a:stretch>
                <a:fillRect/>
              </a:stretch>
            </p:blipFill>
            <p:spPr>
              <a:xfrm>
                <a:off x="9975020" y="686444"/>
                <a:ext cx="1706384" cy="330775"/>
              </a:xfrm>
              <a:prstGeom prst="rect">
                <a:avLst/>
              </a:prstGeom>
            </p:spPr>
          </p:pic>
        </p:grpSp>
        <p:sp>
          <p:nvSpPr>
            <p:cNvPr id="40" name="淘宝-想搞设计(倒卖必究)-40"/>
            <p:cNvSpPr/>
            <p:nvPr>
              <p:custDataLst>
                <p:tags r:id="rId5"/>
              </p:custDataLst>
            </p:nvPr>
          </p:nvSpPr>
          <p:spPr>
            <a:xfrm>
              <a:off x="0" y="1713"/>
              <a:ext cx="19200" cy="6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7" name="图片 6"/>
          <p:cNvPicPr>
            <a:picLocks noChangeAspect="1"/>
          </p:cNvPicPr>
          <p:nvPr/>
        </p:nvPicPr>
        <p:blipFill>
          <a:blip r:embed="rId6"/>
          <a:stretch>
            <a:fillRect/>
          </a:stretch>
        </p:blipFill>
        <p:spPr>
          <a:xfrm>
            <a:off x="1319530" y="1678940"/>
            <a:ext cx="9933940" cy="1995170"/>
          </a:xfrm>
          <a:prstGeom prst="rect">
            <a:avLst/>
          </a:prstGeom>
        </p:spPr>
      </p:pic>
      <p:pic>
        <p:nvPicPr>
          <p:cNvPr id="8" name="图片 7"/>
          <p:cNvPicPr>
            <a:picLocks noChangeAspect="1"/>
          </p:cNvPicPr>
          <p:nvPr/>
        </p:nvPicPr>
        <p:blipFill>
          <a:blip r:embed="rId7"/>
          <a:srcRect l="253"/>
          <a:stretch>
            <a:fillRect/>
          </a:stretch>
        </p:blipFill>
        <p:spPr>
          <a:xfrm>
            <a:off x="1251585" y="3674110"/>
            <a:ext cx="10001885" cy="1737360"/>
          </a:xfrm>
          <a:prstGeom prst="rect">
            <a:avLst/>
          </a:prstGeom>
        </p:spPr>
      </p:pic>
      <p:pic>
        <p:nvPicPr>
          <p:cNvPr id="9" name="图片 8"/>
          <p:cNvPicPr>
            <a:picLocks noChangeAspect="1"/>
          </p:cNvPicPr>
          <p:nvPr/>
        </p:nvPicPr>
        <p:blipFill>
          <a:blip r:embed="rId8"/>
          <a:stretch>
            <a:fillRect/>
          </a:stretch>
        </p:blipFill>
        <p:spPr>
          <a:xfrm>
            <a:off x="1653540" y="5411470"/>
            <a:ext cx="9599930" cy="13957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倒卖必究)-2"/>
          <p:cNvSpPr txBox="1"/>
          <p:nvPr/>
        </p:nvSpPr>
        <p:spPr>
          <a:xfrm>
            <a:off x="1599712" y="2767280"/>
            <a:ext cx="8992577" cy="1322070"/>
          </a:xfrm>
          <a:prstGeom prst="rect">
            <a:avLst/>
          </a:prstGeom>
          <a:noFill/>
        </p:spPr>
        <p:txBody>
          <a:bodyPr wrap="square">
            <a:spAutoFit/>
          </a:bodyPr>
          <a:lstStyle/>
          <a:p>
            <a:r>
              <a:rPr kumimoji="1" lang="en-US" altLang="zh-CN" sz="4000" b="1" dirty="0">
                <a:latin typeface="Arial" panose="020B0604020202020204" pitchFamily="34" charset="0"/>
                <a:ea typeface="微软雅黑" panose="020B0503020204020204" pitchFamily="34" charset="-122"/>
                <a:cs typeface="Arial" panose="020B0604020202020204" pitchFamily="34" charset="0"/>
                <a:sym typeface="+mn-ea"/>
              </a:rPr>
              <a:t>Project Plan for the Next Two Months</a:t>
            </a:r>
            <a:endParaRPr kumimoji="1" lang="en-US" altLang="zh-CN" sz="4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 name="淘宝-想搞设计(倒卖必究)-4"/>
          <p:cNvSpPr txBox="1"/>
          <p:nvPr/>
        </p:nvSpPr>
        <p:spPr>
          <a:xfrm>
            <a:off x="927340" y="899035"/>
            <a:ext cx="6098874" cy="1106805"/>
          </a:xfrm>
          <a:prstGeom prst="rect">
            <a:avLst/>
          </a:prstGeom>
          <a:noFill/>
        </p:spPr>
        <p:txBody>
          <a:bodyPr wrap="square">
            <a:spAutoFit/>
          </a:bodyPr>
          <a:lstStyle/>
          <a:p>
            <a:r>
              <a:rPr kumimoji="1" lang="en-US" altLang="zh-CN" sz="6600" b="1" dirty="0">
                <a:solidFill>
                  <a:schemeClr val="tx1"/>
                </a:solidFill>
                <a:latin typeface="Arial" panose="020B0604020202020204" pitchFamily="34" charset="0"/>
                <a:ea typeface="微软雅黑" panose="020B0503020204020204" pitchFamily="34" charset="-122"/>
                <a:cs typeface="Arial" panose="020B0604020202020204" pitchFamily="34" charset="0"/>
              </a:rPr>
              <a:t>02. </a:t>
            </a:r>
            <a:endParaRPr kumimoji="1" lang="en-US" altLang="zh-CN" sz="66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淘宝-想搞设计(倒卖必究)-18"/>
          <p:cNvSpPr/>
          <p:nvPr/>
        </p:nvSpPr>
        <p:spPr>
          <a:xfrm>
            <a:off x="-184150" y="6663690"/>
            <a:ext cx="12636500" cy="270510"/>
          </a:xfrm>
          <a:prstGeom prst="rect">
            <a:avLst/>
          </a:prstGeom>
          <a:solidFill>
            <a:srgbClr val="E08D2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9" name="Picture 18" descr="香港大学.png"/>
          <p:cNvPicPr>
            <a:picLocks noChangeAspect="1"/>
          </p:cNvPicPr>
          <p:nvPr/>
        </p:nvPicPr>
        <p:blipFill>
          <a:blip r:embed="rId1"/>
          <a:stretch>
            <a:fillRect/>
          </a:stretch>
        </p:blipFill>
        <p:spPr>
          <a:xfrm>
            <a:off x="9679305" y="127952"/>
            <a:ext cx="2221865" cy="4306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459930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Plan (Late April - Early July)</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rot="0">
            <a:off x="0" y="-8890"/>
            <a:ext cx="12192000" cy="791845"/>
            <a:chOff x="0" y="473042"/>
            <a:chExt cx="12192000" cy="792000"/>
          </a:xfrm>
        </p:grpSpPr>
        <p:sp>
          <p:nvSpPr>
            <p:cNvPr id="34" name="淘宝-想搞设计(倒卖必究)-34"/>
            <p:cNvSpPr/>
            <p:nvPr>
              <p:custDataLst>
                <p:tags r:id="rId2"/>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l"/>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pPr algn="l"/>
              <a:endParaRPr lang="zh-CN" altLang="en-US" b="0" dirty="0">
                <a:solidFill>
                  <a:schemeClr val="bg1">
                    <a:lumMod val="65000"/>
                  </a:schemeClr>
                </a:solidFill>
              </a:endParaRPr>
            </a:p>
          </p:txBody>
        </p:sp>
      </p:grpSp>
      <p:sp>
        <p:nvSpPr>
          <p:cNvPr id="18" name="淘宝-想搞设计(倒卖必究)-18"/>
          <p:cNvSpPr/>
          <p:nvPr/>
        </p:nvSpPr>
        <p:spPr>
          <a:xfrm flipH="1">
            <a:off x="515999" y="1803322"/>
            <a:ext cx="11233085" cy="4505403"/>
          </a:xfrm>
          <a:prstGeom prst="roundRect">
            <a:avLst>
              <a:gd name="adj" fmla="val 3552"/>
            </a:avLst>
          </a:prstGeom>
          <a:no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en-US" kern="0" dirty="0">
              <a:solidFill>
                <a:srgbClr val="FFFFFF"/>
              </a:solidFill>
              <a:latin typeface="Calibri" panose="020F0502020204030204"/>
            </a:endParaRPr>
          </a:p>
        </p:txBody>
      </p:sp>
      <p:pic>
        <p:nvPicPr>
          <p:cNvPr id="64" name="Picture 63" descr="香港大学.png"/>
          <p:cNvPicPr>
            <a:picLocks noChangeAspect="1"/>
          </p:cNvPicPr>
          <p:nvPr/>
        </p:nvPicPr>
        <p:blipFill>
          <a:blip r:embed="rId3"/>
          <a:stretch>
            <a:fillRect/>
          </a:stretch>
        </p:blipFill>
        <p:spPr>
          <a:xfrm>
            <a:off x="9975020" y="204470"/>
            <a:ext cx="1706384" cy="330775"/>
          </a:xfrm>
          <a:prstGeom prst="rect">
            <a:avLst/>
          </a:prstGeom>
        </p:spPr>
      </p:pic>
      <p:sp>
        <p:nvSpPr>
          <p:cNvPr id="15" name="淘宝-想搞设计(倒卖必究)-15"/>
          <p:cNvSpPr/>
          <p:nvPr>
            <p:custDataLst>
              <p:tags r:id="rId4"/>
            </p:custDataLst>
          </p:nvPr>
        </p:nvSpPr>
        <p:spPr>
          <a:xfrm>
            <a:off x="0" y="763905"/>
            <a:ext cx="12192000" cy="3810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425450" y="1803400"/>
            <a:ext cx="11308080" cy="4707890"/>
          </a:xfrm>
          <a:prstGeom prst="rect">
            <a:avLst/>
          </a:prstGeom>
          <a:noFill/>
        </p:spPr>
        <p:txBody>
          <a:bodyPr wrap="square" rtlCol="0">
            <a:spAutoFit/>
          </a:bodyPr>
          <a:p>
            <a:pPr marL="285750" indent="-285750">
              <a:lnSpc>
                <a:spcPct val="150000"/>
              </a:lnSpc>
              <a:buFont typeface="Wingdings" panose="05000000000000000000" charset="0"/>
              <a:buChar char="l"/>
            </a:pPr>
            <a:r>
              <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1: Hardware Assembly &amp; Preparation (Late April - Mid May)</a:t>
            </a:r>
            <a:endPar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u"/>
            </a:pPr>
            <a:r>
              <a:rPr lang="en-US" altLang="zh-CN" sz="1400" b="1">
                <a:latin typeface="微软雅黑" panose="020B0503020204020204" pitchFamily="34" charset="-122"/>
                <a:ea typeface="微软雅黑" panose="020B0503020204020204" pitchFamily="34" charset="-122"/>
              </a:rPr>
              <a:t>K</a:t>
            </a:r>
            <a:r>
              <a:rPr lang="en-US" altLang="zh-CN" sz="1400" b="1">
                <a:latin typeface="微软雅黑" panose="020B0503020204020204" pitchFamily="34" charset="-122"/>
                <a:ea typeface="微软雅黑" panose="020B0503020204020204" pitchFamily="34" charset="-122"/>
              </a:rPr>
              <a:t>ey Tasks:</a:t>
            </a: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altLang="zh-CN" sz="1400">
                <a:latin typeface="微软雅黑" panose="020B0503020204020204" pitchFamily="34" charset="-122"/>
                <a:ea typeface="微软雅黑" panose="020B0503020204020204" pitchFamily="34" charset="-122"/>
              </a:rPr>
              <a:t>Complete the silicone molding of the visuo-tactile sensor </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altLang="zh-CN" sz="1400">
                <a:latin typeface="微软雅黑" panose="020B0503020204020204" pitchFamily="34" charset="-122"/>
                <a:ea typeface="微软雅黑" panose="020B0503020204020204" pitchFamily="34" charset="-122"/>
              </a:rPr>
              <a:t>Complete the isolated wiring (high/low voltage) of the gripper.</a:t>
            </a:r>
            <a:endParaRPr lang="en-US" altLang="zh-CN" sz="1400" b="1">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u"/>
            </a:pPr>
            <a:r>
              <a:rPr lang="en-US" altLang="zh-CN" sz="1400" b="1">
                <a:latin typeface="微软雅黑" panose="020B0503020204020204" pitchFamily="34" charset="-122"/>
                <a:ea typeface="微软雅黑" panose="020B0503020204020204" pitchFamily="34" charset="-122"/>
              </a:rPr>
              <a:t>Critical Challenge:</a:t>
            </a:r>
            <a:endParaRPr lang="en-US" altLang="zh-CN" sz="1400" b="1">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altLang="zh-CN" sz="1400">
                <a:latin typeface="微软雅黑" panose="020B0503020204020204" pitchFamily="34" charset="-122"/>
                <a:ea typeface="微软雅黑" panose="020B0503020204020204" pitchFamily="34" charset="-122"/>
              </a:rPr>
              <a:t> Optical-grade Silicone Molding. A vacuum degasser must be used to ensure the silicone is free of bubbles; otherwise, it will severely disrupt subsequent visual feature extraction.</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gn="l">
              <a:lnSpc>
                <a:spcPct val="150000"/>
              </a:lnSpc>
              <a:buClrTx/>
              <a:buSzTx/>
              <a:buFont typeface="+mj-lt"/>
              <a:buNone/>
            </a:pPr>
            <a:endParaRPr lang="en-US" altLang="zh-CN" sz="1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rot="0">
            <a:off x="0" y="-8890"/>
            <a:ext cx="12192000" cy="791845"/>
            <a:chOff x="0" y="473042"/>
            <a:chExt cx="12192000" cy="792000"/>
          </a:xfrm>
        </p:grpSpPr>
        <p:sp>
          <p:nvSpPr>
            <p:cNvPr id="34" name="淘宝-想搞设计(倒卖必究)-34"/>
            <p:cNvSpPr/>
            <p:nvPr>
              <p:custDataLst>
                <p:tags r:id="rId2"/>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l"/>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pPr algn="l"/>
              <a:endParaRPr lang="zh-CN" altLang="en-US" b="0" dirty="0">
                <a:solidFill>
                  <a:schemeClr val="bg1">
                    <a:lumMod val="65000"/>
                  </a:schemeClr>
                </a:solidFill>
              </a:endParaRPr>
            </a:p>
          </p:txBody>
        </p:sp>
      </p:grpSp>
      <p:sp>
        <p:nvSpPr>
          <p:cNvPr id="18" name="淘宝-想搞设计(倒卖必究)-18"/>
          <p:cNvSpPr/>
          <p:nvPr/>
        </p:nvSpPr>
        <p:spPr>
          <a:xfrm flipH="1">
            <a:off x="515999" y="1803322"/>
            <a:ext cx="11233085" cy="4505403"/>
          </a:xfrm>
          <a:prstGeom prst="roundRect">
            <a:avLst>
              <a:gd name="adj" fmla="val 3552"/>
            </a:avLst>
          </a:prstGeom>
          <a:no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en-US" kern="0" dirty="0">
              <a:solidFill>
                <a:srgbClr val="FFFFFF"/>
              </a:solidFill>
              <a:latin typeface="Calibri" panose="020F0502020204030204"/>
            </a:endParaRPr>
          </a:p>
        </p:txBody>
      </p:sp>
      <p:pic>
        <p:nvPicPr>
          <p:cNvPr id="64" name="Picture 63" descr="香港大学.png"/>
          <p:cNvPicPr>
            <a:picLocks noChangeAspect="1"/>
          </p:cNvPicPr>
          <p:nvPr/>
        </p:nvPicPr>
        <p:blipFill>
          <a:blip r:embed="rId3"/>
          <a:stretch>
            <a:fillRect/>
          </a:stretch>
        </p:blipFill>
        <p:spPr>
          <a:xfrm>
            <a:off x="9975020" y="204470"/>
            <a:ext cx="1706384" cy="330775"/>
          </a:xfrm>
          <a:prstGeom prst="rect">
            <a:avLst/>
          </a:prstGeom>
        </p:spPr>
      </p:pic>
      <p:sp>
        <p:nvSpPr>
          <p:cNvPr id="15" name="淘宝-想搞设计(倒卖必究)-15"/>
          <p:cNvSpPr/>
          <p:nvPr>
            <p:custDataLst>
              <p:tags r:id="rId4"/>
            </p:custDataLst>
          </p:nvPr>
        </p:nvSpPr>
        <p:spPr>
          <a:xfrm>
            <a:off x="0" y="763905"/>
            <a:ext cx="12192000" cy="3810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淘宝-想搞设计(倒卖必究)-88"/>
          <p:cNvSpPr txBox="1"/>
          <p:nvPr>
            <p:custDataLst>
              <p:tags r:id="rId5"/>
            </p:custDataLst>
          </p:nvPr>
        </p:nvSpPr>
        <p:spPr>
          <a:xfrm>
            <a:off x="8557975" y="3093278"/>
            <a:ext cx="2566244" cy="470257"/>
          </a:xfrm>
          <a:prstGeom prst="rect">
            <a:avLst/>
          </a:prstGeom>
          <a:noFill/>
        </p:spPr>
        <p:txBody>
          <a:bodyPr wrap="square" rtlCol="0">
            <a:spAutoFit/>
          </a:bodyPr>
          <a:lstStyle/>
          <a:p>
            <a:pPr algn="ctr">
              <a:lnSpc>
                <a:spcPct val="110000"/>
              </a:lnSpc>
              <a:buSzPct val="80000"/>
            </a:pPr>
            <a:r>
              <a:rPr lang="en-US" altLang="zh-CN" sz="2400" b="1" dirty="0">
                <a:solidFill>
                  <a:schemeClr val="bg1"/>
                </a:solidFill>
                <a:latin typeface="微软雅黑" panose="020B0503020204020204" pitchFamily="34" charset="-122"/>
                <a:ea typeface="微软雅黑" panose="020B0503020204020204" pitchFamily="34" charset="-122"/>
              </a:rPr>
              <a:t>High-level AI</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25450" y="1709420"/>
            <a:ext cx="11323320" cy="5031105"/>
          </a:xfrm>
          <a:prstGeom prst="rect">
            <a:avLst/>
          </a:prstGeom>
          <a:noFill/>
        </p:spPr>
        <p:txBody>
          <a:bodyPr wrap="square" rtlCol="0" anchor="t">
            <a:spAutoFit/>
          </a:bodyPr>
          <a:p>
            <a:pPr marL="285750" indent="-285750" algn="l">
              <a:lnSpc>
                <a:spcPct val="150000"/>
              </a:lnSpc>
              <a:buClrTx/>
              <a:buSzTx/>
              <a:buFont typeface="Wingdings" panose="05000000000000000000" charset="0"/>
              <a:buChar char="l"/>
            </a:pPr>
            <a:r>
              <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rPr>
              <a:t>Phase 2: Visuo-Tactile Model Training &amp; Calibration (Mid May - Mid June)</a:t>
            </a:r>
            <a:r>
              <a:rPr lang="en-US" altLang="zh-CN" b="1">
                <a:solidFill>
                  <a:srgbClr val="FF0000"/>
                </a:solidFill>
                <a:latin typeface="微软雅黑" panose="020B0503020204020204" pitchFamily="34" charset="-122"/>
                <a:ea typeface="微软雅黑" panose="020B0503020204020204" pitchFamily="34" charset="-122"/>
                <a:sym typeface="+mn-ea"/>
              </a:rPr>
              <a:t>. . . . .[CORE FOCUS]</a:t>
            </a:r>
            <a:endParaRPr lang="en-US" altLang="zh-CN" b="1">
              <a:solidFill>
                <a:srgbClr val="FF0000"/>
              </a:soli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charset="0"/>
              <a:buChar char="u"/>
            </a:pPr>
            <a:r>
              <a:rPr lang="en-US" altLang="zh-CN" sz="1400" b="1">
                <a:latin typeface="微软雅黑" panose="020B0503020204020204" pitchFamily="34" charset="-122"/>
                <a:ea typeface="微软雅黑" panose="020B0503020204020204" pitchFamily="34" charset="-122"/>
                <a:sym typeface="+mn-ea"/>
              </a:rPr>
              <a:t>Key Tasks:</a:t>
            </a:r>
            <a:endParaRPr lang="en-US" altLang="zh-CN" sz="1400" b="1">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Ø"/>
            </a:pPr>
            <a:r>
              <a:rPr lang="en-US" altLang="zh-CN" sz="1400" b="1">
                <a:solidFill>
                  <a:srgbClr val="FF0000"/>
                </a:solidFill>
                <a:latin typeface="微软雅黑" panose="020B0503020204020204" pitchFamily="34" charset="-122"/>
                <a:ea typeface="微软雅黑" panose="020B0503020204020204" pitchFamily="34" charset="-122"/>
                <a:sym typeface="+mn-ea"/>
              </a:rPr>
              <a:t>Data Collection:</a:t>
            </a:r>
            <a:r>
              <a:rPr lang="en-US" altLang="zh-CN" sz="1400">
                <a:solidFill>
                  <a:srgbClr val="FF0000"/>
                </a:solidFill>
                <a:latin typeface="微软雅黑" panose="020B0503020204020204" pitchFamily="34" charset="-122"/>
                <a:ea typeface="微软雅黑" panose="020B0503020204020204" pitchFamily="34" charset="-122"/>
                <a:sym typeface="+mn-ea"/>
              </a:rPr>
              <a:t> </a:t>
            </a:r>
            <a:r>
              <a:rPr lang="en-US" altLang="zh-CN" sz="140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rPr>
              <a:t>Use the lab's 6D force sensor as Ground Truth. Implement strict timestamp synchronization via Python to collect paired datasets of "OV5640 internal deformation images" and "actual 6D force/torque values" during compression.</a:t>
            </a:r>
            <a:endParaRPr lang="en-US" altLang="zh-CN" sz="140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charset="0"/>
              <a:buChar char="Ø"/>
            </a:pPr>
            <a:r>
              <a:rPr lang="en-US" altLang="zh-CN" sz="1400" b="1">
                <a:solidFill>
                  <a:srgbClr val="FF0000"/>
                </a:solidFill>
                <a:latin typeface="微软雅黑" panose="020B0503020204020204" pitchFamily="34" charset="-122"/>
                <a:ea typeface="微软雅黑" panose="020B0503020204020204" pitchFamily="34" charset="-122"/>
                <a:sym typeface="+mn-ea"/>
              </a:rPr>
              <a:t>OpenCV Preprocessing:</a:t>
            </a:r>
            <a:r>
              <a:rPr lang="en-US" altLang="zh-CN" sz="140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rPr>
              <a:t> Use OpenCV to calculate the Difference Image between the loaded frame and the initial frame to filter out static backgrounds. Retain only deformation shadows caused by LED illumination distortion, crop the ROI, and convert to Tensors.</a:t>
            </a:r>
            <a:endParaRPr lang="en-US" altLang="zh-CN" sz="140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charset="0"/>
              <a:buChar char="Ø"/>
            </a:pPr>
            <a:r>
              <a:rPr lang="en-US" altLang="zh-CN" sz="1400" b="1">
                <a:solidFill>
                  <a:srgbClr val="FF0000"/>
                </a:solidFill>
                <a:latin typeface="微软雅黑" panose="020B0503020204020204" pitchFamily="34" charset="-122"/>
                <a:ea typeface="微软雅黑" panose="020B0503020204020204" pitchFamily="34" charset="-122"/>
                <a:sym typeface="+mn-ea"/>
              </a:rPr>
              <a:t>PyTorch Training:</a:t>
            </a:r>
            <a:r>
              <a:rPr lang="en-US" altLang="zh-CN" sz="1400">
                <a:solidFill>
                  <a:schemeClr val="tx1"/>
                </a:solidFill>
                <a:latin typeface="微软雅黑" panose="020B0503020204020204" pitchFamily="34" charset="-122"/>
                <a:ea typeface="微软雅黑" panose="020B0503020204020204" pitchFamily="34" charset="-122"/>
                <a:sym typeface="+mn-ea"/>
              </a:rPr>
              <a:t> </a:t>
            </a:r>
            <a:r>
              <a:rPr lang="en-US" altLang="zh-CN" sz="1400" b="1">
                <a:solidFill>
                  <a:srgbClr val="FF0000"/>
                </a:solidFill>
                <a:latin typeface="微软雅黑" panose="020B0503020204020204" pitchFamily="34" charset="-122"/>
                <a:ea typeface="微软雅黑" panose="020B0503020204020204" pitchFamily="34" charset="-122"/>
                <a:sym typeface="+mn-ea"/>
              </a:rPr>
              <a:t> </a:t>
            </a:r>
            <a:r>
              <a:rPr lang="en-US" altLang="zh-CN" sz="1400">
                <a:solidFill>
                  <a:schemeClr val="tx1"/>
                </a:solidFill>
                <a:latin typeface="微软雅黑" panose="020B0503020204020204" pitchFamily="34" charset="-122"/>
                <a:ea typeface="微软雅黑" panose="020B0503020204020204" pitchFamily="34" charset="-122"/>
                <a:sym typeface="+mn-ea"/>
              </a:rPr>
              <a:t>Construct a Regression Task neural network on the workstation. Use a lightweight Backbone (e.g., MobileNetV3 or ResNet-18) for feature extraction to output 6D force predictions. Update model weights using MSE Loss and the Adam optimizer.</a:t>
            </a:r>
            <a:endParaRPr lang="en-US" altLang="zh-CN" sz="1400">
              <a:solidFill>
                <a:schemeClr val="tx1"/>
              </a:solidFill>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charset="0"/>
              <a:buChar char="u"/>
            </a:pPr>
            <a:r>
              <a:rPr lang="en-US" altLang="zh-CN" sz="1400" b="1">
                <a:latin typeface="微软雅黑" panose="020B0503020204020204" pitchFamily="34" charset="-122"/>
                <a:ea typeface="微软雅黑" panose="020B0503020204020204" pitchFamily="34" charset="-122"/>
                <a:sym typeface="+mn-ea"/>
              </a:rPr>
              <a:t>Critical Challenge:</a:t>
            </a:r>
            <a:endParaRPr lang="en-US" altLang="zh-CN" sz="1400" b="1">
              <a:latin typeface="微软雅黑" panose="020B0503020204020204" pitchFamily="34" charset="-122"/>
              <a:ea typeface="微软雅黑" panose="020B0503020204020204" pitchFamily="34" charset="-122"/>
              <a:sym typeface="+mn-ea"/>
            </a:endParaRPr>
          </a:p>
          <a:p>
            <a:pPr marL="285750" indent="-285750" algn="l">
              <a:lnSpc>
                <a:spcPct val="150000"/>
              </a:lnSpc>
              <a:buClrTx/>
              <a:buSzTx/>
              <a:buFont typeface="Wingdings" panose="05000000000000000000" charset="0"/>
              <a:buChar char="Ø"/>
            </a:pPr>
            <a:r>
              <a:rPr lang="en-US" altLang="zh-CN" sz="1400">
                <a:latin typeface="微软雅黑" panose="020B0503020204020204" pitchFamily="34" charset="-122"/>
                <a:ea typeface="微软雅黑" panose="020B0503020204020204" pitchFamily="34" charset="-122"/>
                <a:sym typeface="+mn-ea"/>
              </a:rPr>
              <a:t>Spatiotemporal Alignment &amp; Inference Acceleration. Millisecond-level alignment of images and force data is a prerequisite. Meanwhile, the PyTorch model must be exported to ONNX format to ensure real-time control (&lt;50ms per forward pass) on the Raspberry Pi.</a:t>
            </a:r>
            <a:endParaRPr lang="en-US" altLang="zh-CN" sz="1400">
              <a:latin typeface="微软雅黑" panose="020B0503020204020204" pitchFamily="34" charset="-122"/>
              <a:ea typeface="微软雅黑" panose="020B0503020204020204" pitchFamily="34" charset="-122"/>
              <a:sym typeface="+mn-ea"/>
            </a:endParaRPr>
          </a:p>
          <a:p>
            <a:pPr indent="0" algn="l">
              <a:lnSpc>
                <a:spcPct val="150000"/>
              </a:lnSpc>
              <a:buClrTx/>
              <a:buSzTx/>
              <a:buFont typeface="Wingdings" panose="05000000000000000000" charset="0"/>
              <a:buNone/>
            </a:pPr>
            <a:endParaRPr lang="en-US" altLang="zh-CN" sz="140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sym typeface="+mn-ea"/>
            </a:endParaRPr>
          </a:p>
        </p:txBody>
      </p:sp>
      <p:sp>
        <p:nvSpPr>
          <p:cNvPr id="6" name="淘宝-想搞设计(倒卖必究)-13"/>
          <p:cNvSpPr txBox="1"/>
          <p:nvPr/>
        </p:nvSpPr>
        <p:spPr>
          <a:xfrm>
            <a:off x="289862" y="1034110"/>
            <a:ext cx="459930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Plan (Late April - Early July)</a:t>
            </a:r>
            <a:endParaRPr lang="en-US" altLang="zh-CN" dirty="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淘宝-想搞设计(倒卖必究)-13"/>
          <p:cNvSpPr txBox="1"/>
          <p:nvPr/>
        </p:nvSpPr>
        <p:spPr>
          <a:xfrm>
            <a:off x="289862" y="1034110"/>
            <a:ext cx="4599305" cy="423545"/>
          </a:xfrm>
          <a:prstGeom prst="rect">
            <a:avLst/>
          </a:prstGeom>
          <a:noFill/>
        </p:spPr>
        <p:txBody>
          <a:bodyPr vert="horz" wrap="none" lIns="91440" tIns="45720" rIns="91440" bIns="45720" rtlCol="0" anchor="ctr">
            <a:spAutoFit/>
          </a:bodyPr>
          <a:lstStyle>
            <a:lvl1pPr algn="l" defTabSz="914400" rtl="0" eaLnBrk="1" latinLnBrk="0" hangingPunct="1">
              <a:lnSpc>
                <a:spcPct val="90000"/>
              </a:lnSpc>
              <a:spcBef>
                <a:spcPct val="0"/>
              </a:spcBef>
              <a:buNone/>
              <a:defRPr lang="zh-CN" altLang="en-US" sz="2400" b="1" kern="1200" spc="5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stStyle>
          <a:p>
            <a:pPr algn="l"/>
            <a:r>
              <a:rPr lang="en-US" altLang="zh-CN" dirty="0">
                <a:solidFill/>
              </a:rPr>
              <a:t>Plan (Late April - Early July)</a:t>
            </a:r>
            <a:endParaRPr lang="en-US" altLang="zh-CN" dirty="0">
              <a:solidFill/>
            </a:endParaRPr>
          </a:p>
        </p:txBody>
      </p:sp>
      <p:cxnSp>
        <p:nvCxnSpPr>
          <p:cNvPr id="12" name="淘宝-想搞设计(倒卖必究)-12"/>
          <p:cNvCxnSpPr/>
          <p:nvPr/>
        </p:nvCxnSpPr>
        <p:spPr>
          <a:xfrm>
            <a:off x="425752" y="1508520"/>
            <a:ext cx="3797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rot="0">
            <a:off x="0" y="-8890"/>
            <a:ext cx="12192000" cy="791845"/>
            <a:chOff x="0" y="473042"/>
            <a:chExt cx="12192000" cy="792000"/>
          </a:xfrm>
        </p:grpSpPr>
        <p:sp>
          <p:nvSpPr>
            <p:cNvPr id="34" name="淘宝-想搞设计(倒卖必究)-34"/>
            <p:cNvSpPr/>
            <p:nvPr>
              <p:custDataLst>
                <p:tags r:id="rId2"/>
              </p:custDataLst>
            </p:nvPr>
          </p:nvSpPr>
          <p:spPr>
            <a:xfrm>
              <a:off x="0" y="473042"/>
              <a:ext cx="12192000" cy="792000"/>
            </a:xfrm>
            <a:prstGeom prst="rect">
              <a:avLst/>
            </a:prstGeom>
            <a:solidFill>
              <a:srgbClr val="FFFFFF"/>
            </a:solidFill>
            <a:ln w="25400" cap="flat" cmpd="sng" algn="ctr">
              <a:noFill/>
              <a:prstDash val="solid"/>
            </a:ln>
            <a:effectLst>
              <a:outerShdw blurRad="355600" dist="190500" dir="5400000" algn="t" rotWithShape="0">
                <a:prstClr val="black">
                  <a:alpha val="11000"/>
                </a:prstClr>
              </a:outerShdw>
            </a:effectLst>
          </p:spPr>
          <p:txBody>
            <a:bodyPr rtlCol="0" anchor="ctr"/>
            <a:lstStyle/>
            <a:p>
              <a:pPr algn="l"/>
              <a:endParaRPr lang="zh-CN" altLang="en-US" kern="0">
                <a:solidFill>
                  <a:srgbClr val="FFFFFF"/>
                </a:solidFill>
                <a:latin typeface="Calibri" panose="020F0502020204030204"/>
              </a:endParaRPr>
            </a:p>
          </p:txBody>
        </p:sp>
        <p:sp>
          <p:nvSpPr>
            <p:cNvPr id="36" name="淘宝-想搞设计(倒卖必究)-36"/>
            <p:cNvSpPr txBox="1"/>
            <p:nvPr/>
          </p:nvSpPr>
          <p:spPr>
            <a:xfrm>
              <a:off x="6983793" y="684376"/>
              <a:ext cx="184730" cy="369332"/>
            </a:xfrm>
            <a:prstGeom prst="rect">
              <a:avLst/>
            </a:prstGeom>
            <a:noFill/>
          </p:spPr>
          <p:txBody>
            <a:bodyPr wrap="none" rtlCol="0">
              <a:spAutoFit/>
            </a:bodyPr>
            <a:lstStyle>
              <a:defPPr>
                <a:defRPr lang="zh-CN"/>
              </a:defPPr>
              <a:lvl1pPr algn="ctr">
                <a:defRPr b="1" spc="100">
                  <a:solidFill>
                    <a:schemeClr val="bg1">
                      <a:lumMod val="50000"/>
                    </a:schemeClr>
                  </a:solidFill>
                </a:defRPr>
              </a:lvl1pPr>
            </a:lstStyle>
            <a:p>
              <a:pPr algn="l"/>
              <a:endParaRPr lang="zh-CN" altLang="en-US" b="0" dirty="0">
                <a:solidFill>
                  <a:schemeClr val="bg1">
                    <a:lumMod val="65000"/>
                  </a:schemeClr>
                </a:solidFill>
              </a:endParaRPr>
            </a:p>
          </p:txBody>
        </p:sp>
      </p:grpSp>
      <p:sp>
        <p:nvSpPr>
          <p:cNvPr id="18" name="淘宝-想搞设计(倒卖必究)-18"/>
          <p:cNvSpPr/>
          <p:nvPr/>
        </p:nvSpPr>
        <p:spPr>
          <a:xfrm flipH="1">
            <a:off x="515999" y="1803322"/>
            <a:ext cx="11233085" cy="4505403"/>
          </a:xfrm>
          <a:prstGeom prst="roundRect">
            <a:avLst>
              <a:gd name="adj" fmla="val 3552"/>
            </a:avLst>
          </a:prstGeom>
          <a:noFill/>
          <a:ln w="25400" cap="flat" cmpd="sng" algn="ctr">
            <a:noFill/>
            <a:prstDash val="solid"/>
          </a:ln>
          <a:effectLst>
            <a:outerShdw blurRad="355600" dist="190500" dir="5400000" algn="t" rotWithShape="0">
              <a:prstClr val="black">
                <a:alpha val="11000"/>
              </a:prstClr>
            </a:outerShdw>
          </a:effectLst>
        </p:spPr>
        <p:txBody>
          <a:bodyPr rtlCol="0" anchor="ctr"/>
          <a:lstStyle/>
          <a:p>
            <a:pPr algn="ctr"/>
            <a:endParaRPr lang="en-US" kern="0" dirty="0">
              <a:solidFill>
                <a:srgbClr val="FFFFFF"/>
              </a:solidFill>
              <a:latin typeface="Calibri" panose="020F0502020204030204"/>
            </a:endParaRPr>
          </a:p>
        </p:txBody>
      </p:sp>
      <p:pic>
        <p:nvPicPr>
          <p:cNvPr id="64" name="Picture 63" descr="香港大学.png"/>
          <p:cNvPicPr>
            <a:picLocks noChangeAspect="1"/>
          </p:cNvPicPr>
          <p:nvPr/>
        </p:nvPicPr>
        <p:blipFill>
          <a:blip r:embed="rId3"/>
          <a:stretch>
            <a:fillRect/>
          </a:stretch>
        </p:blipFill>
        <p:spPr>
          <a:xfrm>
            <a:off x="9975020" y="204470"/>
            <a:ext cx="1706384" cy="330775"/>
          </a:xfrm>
          <a:prstGeom prst="rect">
            <a:avLst/>
          </a:prstGeom>
        </p:spPr>
      </p:pic>
      <p:sp>
        <p:nvSpPr>
          <p:cNvPr id="15" name="淘宝-想搞设计(倒卖必究)-15"/>
          <p:cNvSpPr/>
          <p:nvPr>
            <p:custDataLst>
              <p:tags r:id="rId4"/>
            </p:custDataLst>
          </p:nvPr>
        </p:nvSpPr>
        <p:spPr>
          <a:xfrm>
            <a:off x="0" y="763905"/>
            <a:ext cx="12192000" cy="38100"/>
          </a:xfrm>
          <a:custGeom>
            <a:avLst/>
            <a:gdLst>
              <a:gd name="connsiteX0" fmla="*/ 0 w 12192000"/>
              <a:gd name="connsiteY0" fmla="*/ 0 h 38100"/>
              <a:gd name="connsiteX1" fmla="*/ 12192000 w 12192000"/>
              <a:gd name="connsiteY1" fmla="*/ 0 h 38100"/>
              <a:gd name="connsiteX2" fmla="*/ 12192000 w 12192000"/>
              <a:gd name="connsiteY2" fmla="*/ 38100 h 38100"/>
              <a:gd name="connsiteX3" fmla="*/ 0 w 12192000"/>
              <a:gd name="connsiteY3" fmla="*/ 38100 h 38100"/>
              <a:gd name="connsiteX4" fmla="*/ 0 w 121920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38100">
                <a:moveTo>
                  <a:pt x="0" y="0"/>
                </a:moveTo>
                <a:lnTo>
                  <a:pt x="12192000" y="0"/>
                </a:lnTo>
                <a:lnTo>
                  <a:pt x="12192000" y="38100"/>
                </a:lnTo>
                <a:lnTo>
                  <a:pt x="0" y="38100"/>
                </a:lnTo>
                <a:lnTo>
                  <a:pt x="0" y="0"/>
                </a:lnTo>
              </a:path>
            </a:pathLst>
          </a:custGeom>
          <a:gradFill flip="none" rotWithShape="1">
            <a:gsLst>
              <a:gs pos="100000">
                <a:srgbClr val="E58E26">
                  <a:alpha val="0"/>
                </a:srgbClr>
              </a:gs>
              <a:gs pos="0">
                <a:srgbClr val="E58E26">
                  <a:alpha val="0"/>
                </a:srgbClr>
              </a:gs>
              <a:gs pos="60000">
                <a:srgbClr val="E58E26"/>
              </a:gs>
              <a:gs pos="40000">
                <a:srgbClr val="E58E26"/>
              </a:gs>
            </a:gsLst>
            <a:path path="circle">
              <a:fillToRect l="100000" t="100000"/>
            </a:path>
            <a:tileRect r="-100000" b="-100000"/>
          </a:gra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425450" y="1803400"/>
            <a:ext cx="11308080" cy="4384675"/>
          </a:xfrm>
          <a:prstGeom prst="rect">
            <a:avLst/>
          </a:prstGeom>
          <a:noFill/>
        </p:spPr>
        <p:txBody>
          <a:bodyPr wrap="square" rtlCol="0">
            <a:spAutoFit/>
          </a:bodyPr>
          <a:p>
            <a:pPr marL="285750" indent="-285750">
              <a:lnSpc>
                <a:spcPct val="150000"/>
              </a:lnSpc>
              <a:buFont typeface="Wingdings" panose="05000000000000000000" charset="0"/>
              <a:buChar char="l"/>
            </a:pPr>
            <a:r>
              <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rPr>
              <a:t>Phase 3: Closed-Loop System Debugging &amp; Optimization (Late June - Early July)</a:t>
            </a:r>
            <a:endParaRPr lang="en-US" altLang="zh-CN" b="1">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u"/>
            </a:pPr>
            <a:r>
              <a:rPr lang="en-US" altLang="zh-CN" sz="1400" b="1">
                <a:latin typeface="微软雅黑" panose="020B0503020204020204" pitchFamily="34" charset="-122"/>
                <a:ea typeface="微软雅黑" panose="020B0503020204020204" pitchFamily="34" charset="-122"/>
              </a:rPr>
              <a:t>K</a:t>
            </a:r>
            <a:r>
              <a:rPr lang="en-US" altLang="zh-CN" sz="1400" b="1">
                <a:latin typeface="微软雅黑" panose="020B0503020204020204" pitchFamily="34" charset="-122"/>
                <a:ea typeface="微软雅黑" panose="020B0503020204020204" pitchFamily="34" charset="-122"/>
              </a:rPr>
              <a:t>ey Tasks:</a:t>
            </a: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altLang="zh-CN" sz="1400">
                <a:latin typeface="微软雅黑" panose="020B0503020204020204" pitchFamily="34" charset="-122"/>
                <a:ea typeface="微软雅黑" panose="020B0503020204020204" pitchFamily="34" charset="-122"/>
              </a:rPr>
              <a:t>Deploy the lightweight model to the Raspberry Pi. Execute the complete closed-loop of "visual force measurement -&gt; error calculation -&gt; PWM servo adjustment", conducting flexible grasping and anti-slip response tests.</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u"/>
            </a:pPr>
            <a:r>
              <a:rPr lang="en-US" altLang="zh-CN" sz="1400" b="1">
                <a:latin typeface="微软雅黑" panose="020B0503020204020204" pitchFamily="34" charset="-122"/>
                <a:ea typeface="微软雅黑" panose="020B0503020204020204" pitchFamily="34" charset="-122"/>
              </a:rPr>
              <a:t>Critical Challenge:</a:t>
            </a:r>
            <a:endParaRPr lang="en-US" altLang="zh-CN" sz="1400" b="1">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altLang="zh-CN" sz="1400">
                <a:latin typeface="微软雅黑" panose="020B0503020204020204" pitchFamily="34" charset="-122"/>
                <a:ea typeface="微软雅黑" panose="020B0503020204020204" pitchFamily="34" charset="-122"/>
              </a:rPr>
              <a:t> Stability of Closed-Loop Response. It requires overcoming the physical latency of the motor and optimizing the trigger sensitivity of the "anti-slip interrupt" mechanism to prevent system oscillation.</a:t>
            </a:r>
            <a:endParaRPr lang="en-US" altLang="zh-CN" sz="140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nSpc>
                <a:spcPct val="150000"/>
              </a:lnSpc>
              <a:buFont typeface="+mj-lt"/>
              <a:buNone/>
            </a:pPr>
            <a:endParaRPr lang="en-US" altLang="zh-CN" sz="1400">
              <a:latin typeface="微软雅黑" panose="020B0503020204020204" pitchFamily="34" charset="-122"/>
              <a:ea typeface="微软雅黑" panose="020B0503020204020204" pitchFamily="34" charset="-122"/>
            </a:endParaRPr>
          </a:p>
          <a:p>
            <a:pPr indent="0" algn="l">
              <a:lnSpc>
                <a:spcPct val="150000"/>
              </a:lnSpc>
              <a:buClrTx/>
              <a:buSzTx/>
              <a:buFont typeface="+mj-lt"/>
              <a:buNone/>
            </a:pPr>
            <a:endParaRPr lang="en-US" altLang="zh-CN" sz="1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p="http://schemas.openxmlformats.org/presentationml/2006/main">
  <p:tag name="ISLIDE.ICON" val="#168399;#152018;"/>
</p:tagLst>
</file>

<file path=ppt/tags/tag2.xml><?xml version="1.0" encoding="utf-8"?>
<p:tagLst xmlns:p="http://schemas.openxmlformats.org/presentationml/2006/main">
  <p:tag name="KSO_WM_DIAGRAM_VIRTUALLY_FRAME" val="{&quot;height&quot;:348.8,&quot;left&quot;:0,&quot;top&quot;:24.8,&quot;width&quot;:960}"/>
</p:tagLst>
</file>

<file path=ppt/tags/tag3.xml><?xml version="1.0" encoding="utf-8"?>
<p:tagLst xmlns:p="http://schemas.openxmlformats.org/presentationml/2006/main">
  <p:tag name="KSO_WM_DIAGRAM_VIRTUALLY_FRAME" val="{&quot;height&quot;:480.20291338582683,&quot;left&quot;:-72.37866141732283,&quot;top&quot;:-9.95,&quot;width&quot;:1032.3786614173227}"/>
</p:tagLst>
</file>

<file path=ppt/tags/tag4.xml><?xml version="1.0" encoding="utf-8"?>
<p:tagLst xmlns:p="http://schemas.openxmlformats.org/presentationml/2006/main">
  <p:tag name="KSO_WM_DIAGRAM_VIRTUALLY_FRAME" val="{&quot;height&quot;:480.20291338582683,&quot;left&quot;:-72.37866141732283,&quot;top&quot;:-9.95,&quot;width&quot;:1032.3786614173227}"/>
</p:tagLst>
</file>

<file path=ppt/tags/tag5.xml><?xml version="1.0" encoding="utf-8"?>
<p:tagLst xmlns:p="http://schemas.openxmlformats.org/presentationml/2006/main">
  <p:tag name="KSO_WM_DIAGRAM_VIRTUALLY_FRAME" val="{&quot;height&quot;:480.20291338582683,&quot;left&quot;:-72.37866141732283,&quot;top&quot;:-9.95,&quot;width&quot;:1032.3786614173227}"/>
</p:tagLst>
</file>

<file path=ppt/tags/tag6.xml><?xml version="1.0" encoding="utf-8"?>
<p:tagLst xmlns:p="http://schemas.openxmlformats.org/presentationml/2006/main">
  <p:tag name="KSO_WM_DIAGRAM_VIRTUALLY_FRAME" val="{&quot;height&quot;:348.8,&quot;left&quot;:0,&quot;top&quot;:24.8,&quot;width&quot;:960}"/>
</p:tagLst>
</file>

<file path=ppt/tags/tag7.xml><?xml version="1.0" encoding="utf-8"?>
<p:tagLst xmlns:p="http://schemas.openxmlformats.org/presentationml/2006/main">
  <p:tag name="KSO_WM_DIAGRAM_VIRTUALLY_FRAME" val="{&quot;height&quot;:480.20291338582683,&quot;left&quot;:-72.37866141732283,&quot;top&quot;:-9.95,&quot;width&quot;:1032.3786614173227}"/>
</p:tagLst>
</file>

<file path=ppt/tags/tag8.xml><?xml version="1.0" encoding="utf-8"?>
<p:tagLst xmlns:p="http://schemas.openxmlformats.org/presentationml/2006/main">
  <p:tag name="KSO_WM_DIAGRAM_VIRTUALLY_FRAME" val="{&quot;height&quot;:480.20291338582683,&quot;left&quot;:-72.37866141732283,&quot;top&quot;:-9.95,&quot;width&quot;:1032.3786614173227}"/>
</p:tagLst>
</file>

<file path=ppt/tags/tag9.xml><?xml version="1.0" encoding="utf-8"?>
<p:tagLst xmlns:p="http://schemas.openxmlformats.org/presentationml/2006/main">
  <p:tag name="KSO_WM_DIAGRAM_VIRTUALLY_FRAME" val="{&quot;height&quot;:480.20291338582683,&quot;left&quot;:-72.37866141732283,&quot;top&quot;:-9.95,&quot;width&quot;:1032.3786614173227}"/>
</p:tagLst>
</file>

<file path=ppt/tags/tag10.xml><?xml version="1.0" encoding="utf-8"?>
<p:tagLst xmlns:p="http://schemas.openxmlformats.org/presentationml/2006/main">
  <p:tag name="KSO_WM_DIAGRAM_VIRTUALLY_FRAME" val="{&quot;height&quot;:348.8,&quot;left&quot;:0,&quot;top&quot;:24.8,&quot;width&quot;:960}"/>
</p:tagLst>
</file>

<file path=ppt/tags/tag11.xml><?xml version="1.0" encoding="utf-8"?>
<p:tagLst xmlns:p="http://schemas.openxmlformats.org/presentationml/2006/main">
  <p:tag name="KSO_WM_DIAGRAM_VIRTUALLY_FRAME" val="{&quot;height&quot;:480.20291338582683,&quot;left&quot;:-72.37866141732283,&quot;top&quot;:-9.95,&quot;width&quot;:1032.3786614173227}"/>
</p:tagLst>
</file>

<file path=ppt/tags/tag12.xml><?xml version="1.0" encoding="utf-8"?>
<p:tagLst xmlns:p="http://schemas.openxmlformats.org/presentationml/2006/main">
  <p:tag name="KSO_WM_DIAGRAM_VIRTUALLY_FRAME" val="{&quot;height&quot;:480.20291338582683,&quot;left&quot;:-72.37866141732283,&quot;top&quot;:-9.95,&quot;width&quot;:1032.3786614173227}"/>
</p:tagLst>
</file>

<file path=ppt/tags/tag13.xml><?xml version="1.0" encoding="utf-8"?>
<p:tagLst xmlns:p="http://schemas.openxmlformats.org/presentationml/2006/main">
  <p:tag name="KSO_WM_DIAGRAM_VIRTUALLY_FRAME" val="{&quot;height&quot;:480.20291338582683,&quot;left&quot;:-72.37866141732283,&quot;top&quot;:-9.95,&quot;width&quot;:1032.3786614173227}"/>
</p:tagLst>
</file>

<file path=ppt/tags/tag14.xml><?xml version="1.0" encoding="utf-8"?>
<p:tagLst xmlns:p="http://schemas.openxmlformats.org/presentationml/2006/main">
  <p:tag name="KSO_WM_DIAGRAM_VIRTUALLY_FRAME" val="{&quot;height&quot;:348.8,&quot;left&quot;:0,&quot;top&quot;:24.8,&quot;width&quot;:960}"/>
</p:tagLst>
</file>

<file path=ppt/tags/tag15.xml><?xml version="1.0" encoding="utf-8"?>
<p:tagLst xmlns:p="http://schemas.openxmlformats.org/presentationml/2006/main">
  <p:tag name="KSO_WM_DIAGRAM_VIRTUALLY_FRAME" val="{&quot;height&quot;:480.20291338582683,&quot;left&quot;:-72.37866141732283,&quot;top&quot;:-9.95,&quot;width&quot;:1032.3786614173227}"/>
</p:tagLst>
</file>

<file path=ppt/tags/tag16.xml><?xml version="1.0" encoding="utf-8"?>
<p:tagLst xmlns:p="http://schemas.openxmlformats.org/presentationml/2006/main">
  <p:tag name="KSO_WM_DIAGRAM_VIRTUALLY_FRAME" val="{&quot;height&quot;:480.20291338582683,&quot;left&quot;:-72.37866141732283,&quot;top&quot;:-9.95,&quot;width&quot;:1032.3786614173227}"/>
</p:tagLst>
</file>

<file path=ppt/tags/tag17.xml><?xml version="1.0" encoding="utf-8"?>
<p:tagLst xmlns:p="http://schemas.openxmlformats.org/presentationml/2006/main">
  <p:tag name="KSO_WM_DIAGRAM_VIRTUALLY_FRAME" val="{&quot;height&quot;:480.20291338582683,&quot;left&quot;:-72.37866141732283,&quot;top&quot;:-9.95,&quot;width&quot;:1032.3786614173227}"/>
</p:tagLst>
</file>

<file path=ppt/tags/tag18.xml><?xml version="1.0" encoding="utf-8"?>
<p:tagLst xmlns:p="http://schemas.openxmlformats.org/presentationml/2006/main">
  <p:tag name="KSO_WM_DIAGRAM_VIRTUALLY_FRAME" val="{&quot;height&quot;:348.8,&quot;left&quot;:0,&quot;top&quot;:24.8,&quot;width&quot;:960}"/>
</p:tagLst>
</file>

<file path=ppt/tags/tag19.xml><?xml version="1.0" encoding="utf-8"?>
<p:tagLst xmlns:p="http://schemas.openxmlformats.org/presentationml/2006/main">
  <p:tag name="KSO_WM_DIAGRAM_VIRTUALLY_FRAME" val="{&quot;height&quot;:480.20291338582683,&quot;left&quot;:-72.37866141732283,&quot;top&quot;:-9.95,&quot;width&quot;:1032.3786614173227}"/>
</p:tagLst>
</file>

<file path=ppt/tags/tag20.xml><?xml version="1.0" encoding="utf-8"?>
<p:tagLst xmlns:p="http://schemas.openxmlformats.org/presentationml/2006/main">
  <p:tag name="KSO_WM_DIAGRAM_VIRTUALLY_FRAME" val="{&quot;height&quot;:480.20291338582683,&quot;left&quot;:-72.37866141732283,&quot;top&quot;:-9.95,&quot;width&quot;:1032.3786614173227}"/>
</p:tagLst>
</file>

<file path=ppt/tags/tag21.xml><?xml version="1.0" encoding="utf-8"?>
<p:tagLst xmlns:p="http://schemas.openxmlformats.org/presentationml/2006/main">
  <p:tag name="KSO_WM_DIAGRAM_VIRTUALLY_FRAME" val="{&quot;height&quot;:480.20291338582683,&quot;left&quot;:-72.37866141732283,&quot;top&quot;:-9.95,&quot;width&quot;:1032.3786614173227}"/>
</p:tagLst>
</file>

<file path=ppt/tags/tag22.xml><?xml version="1.0" encoding="utf-8"?>
<p:tagLst xmlns:p="http://schemas.openxmlformats.org/presentationml/2006/main">
  <p:tag name="KSO_WM_DIAGRAM_VIRTUALLY_FRAME" val="{&quot;height&quot;:480.20291338582683,&quot;left&quot;:-72.37866141732283,&quot;top&quot;:-9.95,&quot;width&quot;:1032.3786614173227}"/>
</p:tagLst>
</file>

<file path=ppt/tags/tag23.xml><?xml version="1.0" encoding="utf-8"?>
<p:tagLst xmlns:p="http://schemas.openxmlformats.org/presentationml/2006/main">
  <p:tag name="KSO_WM_DIAGRAM_VIRTUALLY_FRAME" val="{&quot;height&quot;:480.20291338582683,&quot;left&quot;:-72.37866141732283,&quot;top&quot;:-9.95,&quot;width&quot;:1032.3786614173227}"/>
</p:tagLst>
</file>

<file path=ppt/tags/tag24.xml><?xml version="1.0" encoding="utf-8"?>
<p:tagLst xmlns:p="http://schemas.openxmlformats.org/presentationml/2006/main">
  <p:tag name="KSO_WM_DIAGRAM_VIRTUALLY_FRAME" val="{&quot;height&quot;:480.20291338582683,&quot;left&quot;:-72.37866141732283,&quot;top&quot;:-9.95,&quot;width&quot;:1032.3786614173227}"/>
</p:tagLst>
</file>

<file path=ppt/tags/tag25.xml><?xml version="1.0" encoding="utf-8"?>
<p:tagLst xmlns:p="http://schemas.openxmlformats.org/presentationml/2006/main">
  <p:tag name="KSO_WM_DIAGRAM_VIRTUALLY_FRAME" val="{&quot;height&quot;:480.20291338582683,&quot;left&quot;:-72.37866141732283,&quot;top&quot;:-9.95,&quot;width&quot;:1032.3786614173227}"/>
</p:tagLst>
</file>

<file path=ppt/tags/tag26.xml><?xml version="1.0" encoding="utf-8"?>
<p:tagLst xmlns:p="http://schemas.openxmlformats.org/presentationml/2006/main">
  <p:tag name="KSO_WM_DIAGRAM_VIRTUALLY_FRAME" val="{&quot;height&quot;:480.20291338582683,&quot;left&quot;:-72.37866141732283,&quot;top&quot;:-9.95,&quot;width&quot;:1032.3786614173227}"/>
</p:tagLst>
</file>

<file path=ppt/tags/tag27.xml><?xml version="1.0" encoding="utf-8"?>
<p:tagLst xmlns:p="http://schemas.openxmlformats.org/presentationml/2006/main">
  <p:tag name="KSO_WM_DIAGRAM_VIRTUALLY_FRAME" val="{&quot;height&quot;:480.20291338582683,&quot;left&quot;:-72.37866141732283,&quot;top&quot;:-9.95,&quot;width&quot;:1032.3786614173227}"/>
</p:tagLst>
</file>

<file path=ppt/tags/tag28.xml><?xml version="1.0" encoding="utf-8"?>
<p:tagLst xmlns:p="http://schemas.openxmlformats.org/presentationml/2006/main">
  <p:tag name="KSO_WM_DIAGRAM_VIRTUALLY_FRAME" val="{&quot;height&quot;:303.7925984251969,&quot;left&quot;:69.2307874015748,&quot;top&quot;:182.54708661417322,&quot;width&quot;:821.5385039370078}"/>
</p:tagLst>
</file>

<file path=ppt/tags/tag29.xml><?xml version="1.0" encoding="utf-8"?>
<p:tagLst xmlns:p="http://schemas.openxmlformats.org/presentationml/2006/main">
  <p:tag name="KSO_WM_DIAGRAM_VIRTUALLY_FRAME" val="{&quot;height&quot;:480.20291338582683,&quot;left&quot;:-72.37866141732283,&quot;top&quot;:-9.95,&quot;width&quot;:1032.3786614173227}"/>
</p:tagLst>
</file>

<file path=ppt/tags/tag30.xml><?xml version="1.0" encoding="utf-8"?>
<p:tagLst xmlns:p="http://schemas.openxmlformats.org/presentationml/2006/main">
  <p:tag name="KSO_WM_DIAGRAM_VIRTUALLY_FRAME" val="{&quot;height&quot;:480.20291338582683,&quot;left&quot;:-72.37866141732283,&quot;top&quot;:-9.95,&quot;width&quot;:1032.3786614173227}"/>
</p:tagLst>
</file>

<file path=ppt/tags/tag31.xml><?xml version="1.0" encoding="utf-8"?>
<p:tagLst xmlns:p="http://schemas.openxmlformats.org/presentationml/2006/main">
  <p:tag name="KSO_WM_DIAGRAM_VIRTUALLY_FRAME" val="{&quot;height&quot;:480.20291338582683,&quot;left&quot;:-72.37866141732283,&quot;top&quot;:-9.95,&quot;width&quot;:1032.3786614173227}"/>
</p:tagLst>
</file>

<file path=ppt/tags/tag32.xml><?xml version="1.0" encoding="utf-8"?>
<p:tagLst xmlns:p="http://schemas.openxmlformats.org/presentationml/2006/main">
  <p:tag name="COMMONDATA" val="eyJoZGlkIjoiYjNkNDYxMmIwNmM5NTY2OTdkODYxNGM2OGY2YmI2OGYifQ=="/>
</p:tagLst>
</file>

<file path=ppt/theme/theme1.xml><?xml version="1.0" encoding="utf-8"?>
<a:theme xmlns:a="http://schemas.openxmlformats.org/drawingml/2006/main" name="淘宝-想搞设计">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3rrne3h">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4702</Words>
  <Application>WPS 演示</Application>
  <PresentationFormat>宽屏</PresentationFormat>
  <Paragraphs>96</Paragraphs>
  <Slides>11</Slides>
  <Notes>0</Notes>
  <HiddenSlides>0</HiddenSlides>
  <MMClips>2</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微软雅黑</vt:lpstr>
      <vt:lpstr>Calibri</vt:lpstr>
      <vt:lpstr>Arial Unicode MS</vt:lpstr>
      <vt:lpstr>等线</vt:lpstr>
      <vt:lpstr>Wingdings</vt:lpstr>
      <vt:lpstr>淘宝-想搞设计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creator>淘宝店铺-想搞设计</dc:creator>
  <cp:keywords>淘宝店铺-想搞设计</cp:keywords>
  <dc:description>淘宝店铺-想搞设计</dc:description>
  <dc:subject>淘宝店铺-想搞设计</dc:subject>
  <cp:category>淘宝店铺-想搞设计</cp:category>
  <cp:lastModifiedBy>Lenovo</cp:lastModifiedBy>
  <cp:revision>84</cp:revision>
  <dcterms:created xsi:type="dcterms:W3CDTF">2019-07-31T06:15:00Z</dcterms:created>
  <dcterms:modified xsi:type="dcterms:W3CDTF">2026-04-19T06:37:38Z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965E456F63B848FEB58FA7A6C89DEFD2_13</vt:lpwstr>
  </property>
  <property fmtid="{D5CDD505-2E9C-101B-9397-08002B2CF9AE}" pid="3" name="KSOProductBuildVer">
    <vt:lpwstr>2052-12.1.0.25222</vt:lpwstr>
  </property>
</Properties>
</file>